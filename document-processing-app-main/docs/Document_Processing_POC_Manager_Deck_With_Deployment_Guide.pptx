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Document Processing Automation</a:t>
            </a:r>
          </a:p>
          <a:p>
            <a:pPr>
              <a:defRPr sz="2500">
                <a:solidFill>
                  <a:srgbClr val="D2E1F5"/>
                </a:solidFill>
              </a:defRPr>
            </a:pPr>
            <a:r>
              <a:t>Proof of Concept — Findings &amp; Next Steps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Making document processing faster, more consistent and easier to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We Built This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Prove that repetitive document work can be automated on our own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Reduce manual effort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Automate repetitive Excel updates and document checks.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Improve consistency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Apply the same validation rules every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0965C"/>
                </a:solidFill>
              </a:defRPr>
            </a:pPr>
            <a:r>
              <a:t>Prepare for scale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Test large files and server-based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Included: Excel processing, PDF/Word validation, upload or server path, results and logs.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Not included yet: full production security, enterprise scheduling and complete SCR/CAL product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the Solution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A simple four-step flow from document to business result.</a:t>
            </a:r>
          </a:p>
        </p:txBody>
      </p:sp>
      <p:sp>
        <p:nvSpPr>
          <p:cNvPr id="4" name="Oval 3"/>
          <p:cNvSpPr/>
          <p:nvPr/>
        </p:nvSpPr>
        <p:spPr>
          <a:xfrm>
            <a:off x="1417320" y="1508760"/>
            <a:ext cx="548640" cy="548640"/>
          </a:xfrm>
          <a:prstGeom prst="ellipse">
            <a:avLst/>
          </a:prstGeom>
          <a:solidFill>
            <a:srgbClr val="27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Provide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Upload a file or use an approved server path</a:t>
            </a:r>
          </a:p>
        </p:txBody>
      </p:sp>
      <p:sp>
        <p:nvSpPr>
          <p:cNvPr id="6" name="Oval 5"/>
          <p:cNvSpPr/>
          <p:nvPr/>
        </p:nvSpPr>
        <p:spPr>
          <a:xfrm>
            <a:off x="4297680" y="1508760"/>
            <a:ext cx="548640" cy="548640"/>
          </a:xfrm>
          <a:prstGeom prst="ellipse">
            <a:avLst/>
          </a:prstGeom>
          <a:solidFill>
            <a:srgbClr val="2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2402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Process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The system selects the right processing rules</a:t>
            </a:r>
          </a:p>
        </p:txBody>
      </p:sp>
      <p:sp>
        <p:nvSpPr>
          <p:cNvPr id="8" name="Oval 7"/>
          <p:cNvSpPr/>
          <p:nvPr/>
        </p:nvSpPr>
        <p:spPr>
          <a:xfrm>
            <a:off x="7178040" y="1508760"/>
            <a:ext cx="548640" cy="548640"/>
          </a:xfrm>
          <a:prstGeom prst="ellipse">
            <a:avLst/>
          </a:prstGeom>
          <a:solidFill>
            <a:srgbClr val="EB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EB912D"/>
                </a:solidFill>
              </a:defRPr>
            </a:pPr>
            <a:r>
              <a:t>Check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Content and data are validated automatically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0" y="1508760"/>
            <a:ext cx="548640" cy="548640"/>
          </a:xfrm>
          <a:prstGeom prst="ellipse">
            <a:avLst/>
          </a:prstGeom>
          <a:solidFill>
            <a:srgbClr val="3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2402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0965C"/>
                </a:solidFill>
              </a:defRPr>
            </a:pPr>
            <a:r>
              <a:t>Result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Updated Excel or PASS/FAIL result is returned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The web application provides one consistent experience while the processing happens on the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We Can Do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Practical automation demonstrated across three document types.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Excel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• Add processing status</a:t>
            </a:r>
            <a:br/>
            <a:r>
              <a:t>• Highlight FALSE / NA values</a:t>
            </a:r>
            <a:br/>
            <a:r>
              <a:t>• Create Name &amp; SSN extract</a:t>
            </a:r>
            <a:br/>
            <a:r>
              <a:t>• Support .xlsx and .xls</a:t>
            </a:r>
            <a:br/>
            <a:r>
              <a:t>• Keep processed file available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50876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EB912D"/>
                </a:solidFill>
              </a:defRPr>
            </a:pPr>
            <a:r>
              <a:t>PDF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• Read document content</a:t>
            </a:r>
            <a:br/>
            <a:r>
              <a:t>• Check required phrases</a:t>
            </a:r>
            <a:br/>
            <a:r>
              <a:t>• Return PASS / FAIL</a:t>
            </a:r>
            <a:br/>
            <a:r>
              <a:t>• Show processing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50876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Word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• Read document content</a:t>
            </a:r>
            <a:br/>
            <a:r>
              <a:t>• Check required sections</a:t>
            </a:r>
            <a:br/>
            <a:r>
              <a:t>• Return PASS / FAIL</a:t>
            </a:r>
            <a:br/>
            <a:r>
              <a:t>• Show validation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Also demonstrated: single or multiple uploads, automatic download, server-path processing and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the POC 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The approach is practical for real business processing, not just a technical experiment.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Excel automation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Updated workbooks while preserving the existing workbook structure and key formatting/formula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3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0965C"/>
                </a:solidFill>
              </a:defRPr>
            </a:pPr>
            <a:r>
              <a:t>Large files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Successfully tested workbooks with approximately 15–20K records on the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747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Server processing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Files can be processed from an approved server location without manual copying.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4747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EB912D"/>
                </a:solidFill>
              </a:defRPr>
            </a:pPr>
            <a:r>
              <a:t>Traceability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Processing logs are generated so runs can be investigated when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Learnings &amp;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The POC identified important areas to handle carefully before production rollout.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Excel reliability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Formatting, named ranges and formulas need careful handling when modifying existing workbooks.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EB912D"/>
                </a:solidFill>
              </a:defRPr>
            </a:pPr>
            <a:r>
              <a:t>File availability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OneDrive/shared files can be temporarily locked while open or syncing.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Performance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Larger workloads benefit from controlled processing, monitoring and queue-based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These are engineering considerations, not blockers to the overall approach.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Production should also use configurable paths and stronger access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Future Direction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Move from technical proof to a focused business pilot.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Next pilot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Choose one real production workflow and validate it end-to-end with business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Platform improvements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Add authentication, monitoring, configurable rules, scheduled processing and audit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0965C"/>
                </a:solidFill>
              </a:defRPr>
            </a:pPr>
            <a:r>
              <a:t>Expand automation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Add bulk processing, version comparison, template automation, notifications and API integration.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Recommendation: proceed with a controlled pilot and use the results to define the production roadmap.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Longer term, priority SCR/CAL logic can be migrated onto this platform in the next phase.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Deployment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How the POC can be hosted on a Windows Server for internal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771B4"/>
                </a:solidFill>
              </a:defRPr>
            </a:pPr>
            <a:r>
              <a:t>1. Prepare Server</a:t>
            </a:r>
          </a:p>
          <a:p>
            <a:pPr>
              <a:defRPr sz="1400">
                <a:solidFill>
                  <a:srgbClr val="2D3746"/>
                </a:solidFill>
              </a:defRPr>
            </a:pPr>
            <a:r>
              <a:t>Windows Server + Python + IIS</a:t>
            </a:r>
            <a:br/>
            <a:r>
              <a:t>Set domain/DNS and HTTPS certificate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0020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09696"/>
                </a:solidFill>
              </a:defRPr>
            </a:pPr>
            <a:r>
              <a:t>2. Deploy Application</a:t>
            </a:r>
          </a:p>
          <a:p>
            <a:pPr>
              <a:defRPr sz="1400">
                <a:solidFill>
                  <a:srgbClr val="2D3746"/>
                </a:solidFill>
              </a:defRPr>
            </a:pPr>
            <a:r>
              <a:t>Place the React frontend and FastAPI backend on the server</a:t>
            </a:r>
            <a:br/>
            <a:r>
              <a:t>Install Python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B912D"/>
                </a:solidFill>
              </a:defRPr>
            </a:pPr>
            <a:r>
              <a:t>3. Start Backend</a:t>
            </a:r>
          </a:p>
          <a:p>
            <a:pPr>
              <a:defRPr sz="1400">
                <a:solidFill>
                  <a:srgbClr val="2D3746"/>
                </a:solidFill>
              </a:defRPr>
            </a:pPr>
            <a:r>
              <a:t>Run FastAPI as a Windows service</a:t>
            </a:r>
            <a:br/>
            <a:r>
              <a:t>Keep the API private on localhost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20040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965C"/>
                </a:solidFill>
              </a:defRPr>
            </a:pPr>
            <a:r>
              <a:t>4. Publish Web App</a:t>
            </a:r>
          </a:p>
          <a:p>
            <a:pPr>
              <a:defRPr sz="1400">
                <a:solidFill>
                  <a:srgbClr val="2D3746"/>
                </a:solidFill>
              </a:defRPr>
            </a:pPr>
            <a:r>
              <a:t>IIS serves the React UI and forwards API requests to 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83480"/>
            <a:ext cx="1645920" cy="594360"/>
          </a:xfrm>
          <a:prstGeom prst="roundRect">
            <a:avLst/>
          </a:prstGeom>
          <a:solidFill>
            <a:srgbClr val="27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5148072"/>
            <a:ext cx="502920" cy="274320"/>
          </a:xfrm>
          <a:prstGeom prst="rightArrow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4983480"/>
            <a:ext cx="1645920" cy="594360"/>
          </a:xfrm>
          <a:prstGeom prst="round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IIS / HTTPS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03520" y="5148072"/>
            <a:ext cx="502920" cy="274320"/>
          </a:xfrm>
          <a:prstGeom prst="rightArrow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4983480"/>
            <a:ext cx="1645920" cy="594360"/>
          </a:xfrm>
          <a:prstGeom prst="roundRect">
            <a:avLst/>
          </a:prstGeom>
          <a:solidFill>
            <a:srgbClr val="2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React UI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46720" y="5148072"/>
            <a:ext cx="502920" cy="274320"/>
          </a:xfrm>
          <a:prstGeom prst="rightArrow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52560" y="4983480"/>
            <a:ext cx="1645920" cy="594360"/>
          </a:xfrm>
          <a:prstGeom prst="roundRect">
            <a:avLst/>
          </a:prstGeom>
          <a:solidFill>
            <a:srgbClr val="EB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064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6"/>
                </a:solidFill>
              </a:defRPr>
            </a:pPr>
            <a:r>
              <a:t>Recommended setup: one internal HTTPS domain, with IIS handling web traffic and FastAPI running privately on the server.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