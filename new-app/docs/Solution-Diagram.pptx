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54480"/>
            <a:ext cx="12191695" cy="310896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219456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MOA Valuation Package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BFDBFE"/>
                </a:solidFill>
                <a:latin typeface="Calibri"/>
              </a:rPr>
              <a:t>From the manual process to the application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93C5FD"/>
                </a:solidFill>
                <a:latin typeface="Calibri"/>
              </a:rPr>
              <a:t>Solution diagram  ·  requirements: assembly and 401(k)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The requirements document is the manual Adobe and Excel procedure.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The application automates combine, order, keep/remove, amounts, bookmarks, the file name, the email draft, and the assembly 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0F2C4C"/>
                </a:solidFill>
                <a:latin typeface="Calibri"/>
              </a:rPr>
              <a:t>Manual process  vs 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577840" cy="5394960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TODAY — BY HAND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Claim the plan on the assembly log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Open the Valuation Package folder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Adobe Combine: drag files into order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Delete pages that should not ship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Type QNEC and refund amounts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Add bookmarks one by one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Save PlanNumber_Year-Valuation.pdf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Write the tester email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Type the log date, time, and file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532120" cy="539496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APPLICATION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Reviewer still claims the plan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Upload PDFs or paste the folder path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Auto-order from file-name keywords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Rules remove unused paragraphs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Amounts filled from the plan profile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Bookmarks written for remaining sections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Same file name, beginning plan year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Outlook draft ready to send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Log row appended at assembly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2C4C"/>
                </a:solidFill>
                <a:latin typeface="Calibri"/>
              </a:rPr>
              <a:t>How a package moves through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One PC. Browser and application together. No separate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  Reviewer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Upload PDFs
or paste the
folder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  Order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Keyword order
Cover split into
named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  Read facts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Plan number,
pass/fail, QNEC,
401(k) or 403(b)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  Apply rules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Keep or remove
Fill amounts
Add bookmarks
Optional date and HCE retype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234440"/>
            <a:ext cx="2148840" cy="23317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   Save</a:t>
            </a:r>
          </a:p>
          <a:p>
            <a:pPr algn="ctr">
              <a:spcAft>
                <a:spcPts val="2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Named PDF
Email draft
Assembly log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172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6344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99516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326880" y="2148840"/>
            <a:ext cx="292608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3840480"/>
            <a:ext cx="11521440" cy="1051560"/>
          </a:xfrm>
          <a:prstGeom prst="roundRect">
            <a:avLst>
              <a:gd name="adj" fmla="val 12000"/>
            </a:avLst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Reviewer previews with highlights on or off, downloads the clean PDF, and sends the email draft.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BFDBFE"/>
                </a:solidFill>
                <a:latin typeface="Calibri"/>
              </a:rPr>
              <a:t>Optional: if the source path is the Valuation Package folder, a copy is also saved in the Testing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http://127.0.0.1:8002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Plan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5120640"/>
            <a:ext cx="2331720" cy="502920"/>
          </a:xfrm>
          <a:prstGeom prst="roundRect">
            <a:avLst>
              <a:gd name="adj" fmla="val 12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Requirements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51206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PDF  ·  .eml  · 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52160"/>
            <a:ext cx="11338560" cy="6400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F2E"/>
                </a:solidFill>
                <a:latin typeface="Calibri"/>
              </a:rPr>
              <a:t>File name: {Plan Number}_{Beginning Plan Year}-Valuation.pdf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Off-calendar example: 10/01/2017–09/30/2018 saves as 2017.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2C4C"/>
                </a:solidFill>
                <a:latin typeface="Calibri"/>
              </a:rPr>
              <a:t>What the rules automate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Each item is kept or removed from facts read off the package — not retyped by the reviewer.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Action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Compliance failure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PRIOR and CURRENT ADP/ACP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After 12 months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Top heavy at 60% or more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Variance and contributions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No immediate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Notices and letters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CURRENT notice + QNEC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After-12 refunds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ADP letter and ACP letter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402(g) letter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415 information and letter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Package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Excess Summary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Year End Recap bullets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Compliance reports stay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Bookmarks for sections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that remain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188720"/>
            <a:ext cx="2743200" cy="50292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83080"/>
            <a:ext cx="274320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Company, address, plan,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plan year end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Mutual of America stamp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SSN pattern flagged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403(b) bookmark is HCE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074920"/>
            <a:ext cx="11521440" cy="1325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45309"/>
                </a:solidFill>
                <a:latin typeface="Calibri"/>
              </a:rPr>
              <a:t>Still done by the reviewer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Claim the plan on the Testing Log. Send the email. Confirm no other company name on the cover.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Cover day, HCE %, and off-calendar 402(g) dates change only when Retype dates and HCE % is checked. Non-PDF files are not converted.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