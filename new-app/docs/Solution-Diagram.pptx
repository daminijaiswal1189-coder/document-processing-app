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554480"/>
            <a:ext cx="12191695" cy="3108960"/>
          </a:xfrm>
          <a:prstGeom prst="rect">
            <a:avLst/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874519"/>
            <a:ext cx="10972800" cy="219456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MOA Valuation Package</a:t>
            </a:r>
          </a:p>
          <a:p>
            <a:pPr algn="l">
              <a:spcAft>
                <a:spcPts val="200"/>
              </a:spcAft>
            </a:pPr>
            <a:r>
              <a:rPr sz="2200" b="0">
                <a:solidFill>
                  <a:srgbClr val="BFDBFE"/>
                </a:solidFill>
                <a:latin typeface="Calibri"/>
              </a:rPr>
              <a:t>From the manual process to the application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93C5FD"/>
                </a:solidFill>
                <a:latin typeface="Calibri"/>
              </a:rPr>
              <a:t>Solution diagram  ·  requirements: assembly and 401(k)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029200"/>
            <a:ext cx="10972800" cy="109728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1600" b="0">
                <a:solidFill>
                  <a:srgbClr val="1A1F2E"/>
                </a:solidFill>
                <a:latin typeface="Calibri"/>
              </a:rPr>
              <a:t>The requirements document is the manual Adobe and Excel procedure.</a:t>
            </a:r>
          </a:p>
          <a:p>
            <a:pPr algn="l">
              <a:spcAft>
                <a:spcPts val="200"/>
              </a:spcAft>
            </a:pPr>
            <a:r>
              <a:rPr sz="1600" b="0">
                <a:solidFill>
                  <a:srgbClr val="334155"/>
                </a:solidFill>
                <a:latin typeface="Calibri"/>
              </a:rPr>
              <a:t>The application automates combine, order, keep/remove, amounts, bookmarks, the file name, the email draft, and the assembly log.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56032"/>
            <a:ext cx="10972800" cy="45720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2800" b="1">
                <a:solidFill>
                  <a:srgbClr val="0F2C4C"/>
                </a:solidFill>
                <a:latin typeface="Calibri"/>
              </a:rPr>
              <a:t>Manual process  vs  the application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960120"/>
            <a:ext cx="5577840" cy="5394960"/>
          </a:xfrm>
          <a:prstGeom prst="roundRect">
            <a:avLst>
              <a:gd name="adj" fmla="val 12000"/>
            </a:avLst>
          </a:prstGeom>
          <a:solidFill>
            <a:srgbClr val="B91C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TODAY — BY HAND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Claim the plan on the assembly log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Open the Valuation Package folder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Adobe Combine: drag files into order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Delete pages that should not ship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Type QNEC and refund amounts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Add bookmarks one by one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Save PlanNumber_Year-Valuation.pdf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Write the tester email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Type the log date, time, and file name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63640" y="960120"/>
            <a:ext cx="5532120" cy="5394960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APPLICATION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Reviewer still claims the plan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Upload PDFs or paste the folder path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Auto-order from file-name keywords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Rules remove unused paragraphs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Amounts filled from the plan profile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Bookmarks written for remaining sections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Same file name, beginning plan year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Outlook draft ready to send</a:t>
            </a:r>
          </a:p>
          <a:p>
            <a:pPr algn="l">
              <a:spcAft>
                <a:spcPts val="200"/>
              </a:spcAft>
            </a:pPr>
            <a:r>
              <a:rPr sz="1500" b="0">
                <a:solidFill>
                  <a:srgbClr val="FFFFFF"/>
                </a:solidFill>
                <a:latin typeface="Calibri"/>
              </a:rPr>
              <a:t>Log row appended at assembly time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41148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2C4C"/>
                </a:solidFill>
                <a:latin typeface="Calibri"/>
              </a:rPr>
              <a:t>How a package moves through the application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One PC. Browser and application together. No separate server.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234440"/>
            <a:ext cx="2148840" cy="233172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1   Reviewer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Upload PDFs
or paste the
folder path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651760" y="1234440"/>
            <a:ext cx="2148840" cy="233172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2   Order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Keyword order
Cover split into
named pages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983480" y="1234440"/>
            <a:ext cx="2148840" cy="233172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3   Read facts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Plan number,
pass/fail, QNEC,
401(k) or 403(b)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0" y="1234440"/>
            <a:ext cx="2148840" cy="2331720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4   Apply rules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Keep or remove
Fill amounts
Add bookmarks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46920" y="1234440"/>
            <a:ext cx="2148840" cy="2331720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5   Save</a:t>
            </a:r>
          </a:p>
          <a:p>
            <a:pPr algn="ctr">
              <a:spcAft>
                <a:spcPts val="200"/>
              </a:spcAft>
            </a:pPr>
            <a:r>
              <a:rPr sz="600" b="0">
                <a:solidFill>
                  <a:srgbClr val="FFFFFF"/>
                </a:solidFill>
                <a:latin typeface="Calibri"/>
              </a:rPr>
              <a:t/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Named PDF
Email draft
Assembly log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2331720" y="2148840"/>
            <a:ext cx="292608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4663440" y="2148840"/>
            <a:ext cx="292608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ight Arrow 12"/>
          <p:cNvSpPr/>
          <p:nvPr/>
        </p:nvSpPr>
        <p:spPr>
          <a:xfrm>
            <a:off x="6995160" y="2148840"/>
            <a:ext cx="292608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ight Arrow 13"/>
          <p:cNvSpPr/>
          <p:nvPr/>
        </p:nvSpPr>
        <p:spPr>
          <a:xfrm>
            <a:off x="9326880" y="2148840"/>
            <a:ext cx="292608" cy="256032"/>
          </a:xfrm>
          <a:prstGeom prst="rightArrow">
            <a:avLst/>
          </a:prstGeom>
          <a:solidFill>
            <a:srgbClr val="3341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20040" y="3840480"/>
            <a:ext cx="11521440" cy="1051560"/>
          </a:xfrm>
          <a:prstGeom prst="roundRect">
            <a:avLst>
              <a:gd name="adj" fmla="val 12000"/>
            </a:avLst>
          </a:prstGeom>
          <a:solidFill>
            <a:srgbClr val="0F2C4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Calibri"/>
              </a:rPr>
              <a:t>Reviewer checks the preview, downloads the PDF, and sends the email draft.</a:t>
            </a:r>
          </a:p>
          <a:p>
            <a:pPr algn="ctr">
              <a:spcAft>
                <a:spcPts val="200"/>
              </a:spcAft>
            </a:pPr>
            <a:r>
              <a:rPr sz="1300" b="0">
                <a:solidFill>
                  <a:srgbClr val="BFDBFE"/>
                </a:solidFill>
                <a:latin typeface="Calibri"/>
              </a:rPr>
              <a:t>Optional: if the source path is the Valuation Package folder, a copy is also saved in the Testing folder.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20040" y="5120640"/>
            <a:ext cx="2331720" cy="502920"/>
          </a:xfrm>
          <a:prstGeom prst="roundRect">
            <a:avLst>
              <a:gd name="adj" fmla="val 12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965960" y="5120640"/>
            <a:ext cx="2331720" cy="502920"/>
          </a:xfrm>
          <a:prstGeom prst="roundRect">
            <a:avLst>
              <a:gd name="adj" fmla="val 12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http://127.0.0.1:8002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709160" y="5120640"/>
            <a:ext cx="2331720" cy="502920"/>
          </a:xfrm>
          <a:prstGeom prst="roundRect">
            <a:avLst>
              <a:gd name="adj" fmla="val 12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Plan Profile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03720" y="5120640"/>
            <a:ext cx="2331720" cy="502920"/>
          </a:xfrm>
          <a:prstGeom prst="roundRect">
            <a:avLst>
              <a:gd name="adj" fmla="val 12000"/>
            </a:avLst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Requirements rules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64040" y="5120640"/>
            <a:ext cx="2377440" cy="502920"/>
          </a:xfrm>
          <a:prstGeom prst="roundRect">
            <a:avLst>
              <a:gd name="adj" fmla="val 12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PDF  ·  .eml  · 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852160"/>
            <a:ext cx="11338560" cy="64008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1A1F2E"/>
                </a:solidFill>
                <a:latin typeface="Calibri"/>
              </a:rPr>
              <a:t>File name: {Plan Number}_{Beginning Plan Year}-Valuation.pdf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475569"/>
                </a:solidFill>
                <a:latin typeface="Calibri"/>
              </a:rPr>
              <a:t>Off-calendar example: 10/01/2017–09/30/2018 saves as 2017.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F7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228600"/>
            <a:ext cx="10972800" cy="41148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2600" b="1">
                <a:solidFill>
                  <a:srgbClr val="0F2C4C"/>
                </a:solidFill>
                <a:latin typeface="Calibri"/>
              </a:rPr>
              <a:t>What the rules automate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58368"/>
            <a:ext cx="10972800" cy="320040"/>
          </a:xfrm>
          <a:prstGeom prst="rect">
            <a:avLst/>
          </a:prstGeom>
          <a:noFill/>
        </p:spPr>
        <p:txBody>
          <a:bodyPr wrap="square" lIns="36576" rIns="36576" tIns="18288" anchor="t"/>
          <a:lstStyle/>
          <a:p>
            <a:pPr algn="l">
              <a:spcAft>
                <a:spcPts val="200"/>
              </a:spcAft>
            </a:pPr>
            <a:r>
              <a:rPr sz="1400" b="0">
                <a:solidFill>
                  <a:srgbClr val="475569"/>
                </a:solidFill>
                <a:latin typeface="Calibri"/>
              </a:rPr>
              <a:t>Each item is kept or removed from facts read off the package — not retyped by the reviewer.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1188720"/>
            <a:ext cx="2743200" cy="502920"/>
          </a:xfrm>
          <a:prstGeom prst="roundRect">
            <a:avLst>
              <a:gd name="adj" fmla="val 20000"/>
            </a:avLst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Action Required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20040" y="1783080"/>
            <a:ext cx="2743200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D4ED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Compliance failure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PRIOR and CURRENT ADP/ACP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After 12 months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Top heavy at 60% or more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Variance and contributions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No immediate action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1188720"/>
            <a:ext cx="2743200" cy="502920"/>
          </a:xfrm>
          <a:prstGeom prst="roundRect">
            <a:avLst>
              <a:gd name="adj" fmla="val 20000"/>
            </a:avLst>
          </a:prstGeom>
          <a:solidFill>
            <a:srgbClr val="0F76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Notices and letters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46120" y="1783080"/>
            <a:ext cx="2743200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0F76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CURRENT notice + QNEC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After-12 refunds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ADP letter and ACP letter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402(g) letter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415 information and letter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2743200" cy="502920"/>
          </a:xfrm>
          <a:prstGeom prst="roundRect">
            <a:avLst>
              <a:gd name="adj" fmla="val 20000"/>
            </a:avLst>
          </a:prstGeom>
          <a:solidFill>
            <a:srgbClr val="6D28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Package content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783080"/>
            <a:ext cx="2743200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6D28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Excess Summary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Year End Recap bullets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Compliance reports stay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Bookmarks for sections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that remain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098280" y="1188720"/>
            <a:ext cx="2743200" cy="502920"/>
          </a:xfrm>
          <a:prstGeom prst="roundRect">
            <a:avLst>
              <a:gd name="adj" fmla="val 20000"/>
            </a:avLst>
          </a:prstGeom>
          <a:solidFill>
            <a:srgbClr val="1580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/>
            <a:r>
              <a:rPr sz="1500" b="1">
                <a:solidFill>
                  <a:srgbClr val="FFFFFF"/>
                </a:solidFill>
                <a:latin typeface="Calibri"/>
              </a:rPr>
              <a:t>Checks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1783080"/>
            <a:ext cx="2743200" cy="306324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1580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tIns="137160"/>
          <a:lstStyle/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Company, address, plan,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plan year end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Mutual of America stamp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SSN pattern flagged</a:t>
            </a:r>
          </a:p>
          <a:p>
            <a:pPr algn="l">
              <a:spcAft>
                <a:spcPts val="8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403(b) bookmark is HCE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0040" y="5074920"/>
            <a:ext cx="11521440" cy="1325880"/>
          </a:xfrm>
          <a:prstGeom prst="roundRect">
            <a:avLst>
              <a:gd name="adj" fmla="val 12000"/>
            </a:avLst>
          </a:prstGeom>
          <a:solidFill>
            <a:srgbClr val="FEF3C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73152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B45309"/>
                </a:solidFill>
                <a:latin typeface="Calibri"/>
              </a:rPr>
              <a:t>Still done by the reviewer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1A1F2E"/>
                </a:solidFill>
                <a:latin typeface="Calibri"/>
              </a:rPr>
              <a:t>Claim the plan on the Testing Log. Send the email. Confirm no other company name on the cover.</a:t>
            </a:r>
          </a:p>
          <a:p>
            <a:pPr algn="l">
              <a:spcAft>
                <a:spcPts val="200"/>
              </a:spcAft>
            </a:pPr>
            <a:r>
              <a:rPr sz="1400" b="0">
                <a:solidFill>
                  <a:srgbClr val="334155"/>
                </a:solidFill>
                <a:latin typeface="Calibri"/>
              </a:rPr>
              <a:t>Prior-year HCE percent and off-calendar 402(g) dates stay on the source PDFs. Non-PDF files are not converted.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