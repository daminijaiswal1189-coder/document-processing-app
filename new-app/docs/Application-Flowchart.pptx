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E6B"/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"/>
            <a:ext cx="11521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Calibri"/>
              </a:rPr>
              <a:t>How the application works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F4A5A"/>
                </a:solidFill>
                <a:latin typeface="Calibri"/>
              </a:rPr>
              <a:t>Page 1 of 3   ·   You prepare the files</a:t>
            </a:r>
          </a:p>
        </p:txBody>
      </p:sp>
      <p:sp>
        <p:nvSpPr>
          <p:cNvPr id="4" name="Terminator 3"/>
          <p:cNvSpPr/>
          <p:nvPr/>
        </p:nvSpPr>
        <p:spPr>
          <a:xfrm>
            <a:off x="320040" y="896112"/>
            <a:ext cx="292608" cy="237744"/>
          </a:xfrm>
          <a:prstGeom prst="flowChartTerminator">
            <a:avLst/>
          </a:prstGeom>
          <a:solidFill>
            <a:srgbClr val="1B7A4A"/>
          </a:solidFill>
          <a:ln w="22225">
            <a:solidFill>
              <a:srgbClr val="145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Oval  Start or end</a:t>
            </a:r>
          </a:p>
        </p:txBody>
      </p:sp>
      <p:sp>
        <p:nvSpPr>
          <p:cNvPr id="6" name="Process 5"/>
          <p:cNvSpPr/>
          <p:nvPr/>
        </p:nvSpPr>
        <p:spPr>
          <a:xfrm>
            <a:off x="2468880" y="896112"/>
            <a:ext cx="292608" cy="237744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9806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Rectangle  A step</a:t>
            </a:r>
          </a:p>
        </p:txBody>
      </p:sp>
      <p:sp>
        <p:nvSpPr>
          <p:cNvPr id="8" name="Decision 7"/>
          <p:cNvSpPr/>
          <p:nvPr/>
        </p:nvSpPr>
        <p:spPr>
          <a:xfrm>
            <a:off x="4709160" y="896112"/>
            <a:ext cx="292608" cy="237744"/>
          </a:xfrm>
          <a:prstGeom prst="flowChartDecision">
            <a:avLst/>
          </a:prstGeom>
          <a:solidFill>
            <a:srgbClr val="FFF4D4"/>
          </a:solidFill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3834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Diamond  Yes or no</a:t>
            </a:r>
          </a:p>
        </p:txBody>
      </p:sp>
      <p:sp>
        <p:nvSpPr>
          <p:cNvPr id="10" name="Data 9"/>
          <p:cNvSpPr/>
          <p:nvPr/>
        </p:nvSpPr>
        <p:spPr>
          <a:xfrm>
            <a:off x="7040880" y="896112"/>
            <a:ext cx="292608" cy="237744"/>
          </a:xfrm>
          <a:prstGeom prst="flowChartInputOutput">
            <a:avLst/>
          </a:prstGeom>
          <a:solidFill>
            <a:srgbClr val="EEF2FF"/>
          </a:solidFill>
          <a:ln w="22225">
            <a:solidFill>
              <a:srgbClr val="373A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6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Slanted  Files you add</a:t>
            </a:r>
          </a:p>
        </p:txBody>
      </p:sp>
      <p:sp>
        <p:nvSpPr>
          <p:cNvPr id="12" name="Document 11"/>
          <p:cNvSpPr/>
          <p:nvPr/>
        </p:nvSpPr>
        <p:spPr>
          <a:xfrm>
            <a:off x="9464040" y="896112"/>
            <a:ext cx="292608" cy="237744"/>
          </a:xfrm>
          <a:prstGeom prst="flowChartDocument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322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Document  File produced</a:t>
            </a:r>
          </a:p>
        </p:txBody>
      </p:sp>
      <p:sp>
        <p:nvSpPr>
          <p:cNvPr id="14" name="Terminator 13"/>
          <p:cNvSpPr/>
          <p:nvPr/>
        </p:nvSpPr>
        <p:spPr>
          <a:xfrm>
            <a:off x="320040" y="1371600"/>
            <a:ext cx="1417320" cy="713232"/>
          </a:xfrm>
          <a:prstGeom prst="flowChartTerminator">
            <a:avLst/>
          </a:prstGeom>
          <a:solidFill>
            <a:srgbClr val="1B7A4A"/>
          </a:solidFill>
          <a:ln w="22225">
            <a:solidFill>
              <a:srgbClr val="145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Start</a:t>
            </a:r>
          </a:p>
        </p:txBody>
      </p:sp>
      <p:sp>
        <p:nvSpPr>
          <p:cNvPr id="15" name="Process 14"/>
          <p:cNvSpPr/>
          <p:nvPr/>
        </p:nvSpPr>
        <p:spPr>
          <a:xfrm>
            <a:off x="2057400" y="1335024"/>
            <a:ext cx="4297680" cy="786384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D4E89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7"/>
                </a:solidFill>
                <a:latin typeface="Calibri"/>
              </a:rPr>
              <a:t>Open the application in the browser</a:t>
            </a:r>
          </a:p>
        </p:txBody>
      </p:sp>
      <p:sp>
        <p:nvSpPr>
          <p:cNvPr id="16" name="Data 15"/>
          <p:cNvSpPr/>
          <p:nvPr/>
        </p:nvSpPr>
        <p:spPr>
          <a:xfrm>
            <a:off x="6675120" y="1335024"/>
            <a:ext cx="5166360" cy="786384"/>
          </a:xfrm>
          <a:prstGeom prst="flowChartInputOutput">
            <a:avLst/>
          </a:prstGeom>
          <a:solidFill>
            <a:srgbClr val="EEF2FF"/>
          </a:solidFill>
          <a:ln w="22225">
            <a:solidFill>
              <a:srgbClr val="373A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73AB0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7"/>
                </a:solidFill>
                <a:latin typeface="Calibri"/>
              </a:rPr>
              <a:t>Upload PDFs and Excel, or paste the folder path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755648" y="1728216"/>
            <a:ext cx="283464" cy="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373368" y="1728216"/>
            <a:ext cx="283464" cy="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ocess 18"/>
          <p:cNvSpPr/>
          <p:nvPr/>
        </p:nvSpPr>
        <p:spPr>
          <a:xfrm>
            <a:off x="1965960" y="2359152"/>
            <a:ext cx="8229600" cy="713232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7"/>
                </a:solidFill>
                <a:latin typeface="Calibri"/>
              </a:rPr>
              <a:t>List every file. A multi-page cover splits into named pages.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58300" y="2130551"/>
            <a:ext cx="0" cy="219457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4956048" y="3273552"/>
            <a:ext cx="2286000" cy="1051560"/>
          </a:xfrm>
          <a:prstGeom prst="flowChartDecision">
            <a:avLst/>
          </a:prstGeom>
          <a:solidFill>
            <a:srgbClr val="FFF4D4"/>
          </a:solidFill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1917"/>
                </a:solidFill>
                <a:latin typeface="Calibri"/>
              </a:rPr>
              <a:t>Auto-order?</a:t>
            </a:r>
          </a:p>
        </p:txBody>
      </p:sp>
      <p:sp>
        <p:nvSpPr>
          <p:cNvPr id="22" name="Process 21"/>
          <p:cNvSpPr/>
          <p:nvPr/>
        </p:nvSpPr>
        <p:spPr>
          <a:xfrm>
            <a:off x="292608" y="4480560"/>
            <a:ext cx="5669280" cy="841248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Sort by filename keywords: Cover, Result, ADP, 402, Census, and the others</a:t>
            </a:r>
          </a:p>
        </p:txBody>
      </p:sp>
      <p:sp>
        <p:nvSpPr>
          <p:cNvPr id="23" name="Process 22"/>
          <p:cNvSpPr/>
          <p:nvPr/>
        </p:nvSpPr>
        <p:spPr>
          <a:xfrm>
            <a:off x="6236208" y="4480560"/>
            <a:ext cx="5650992" cy="841248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D4E89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Keep the order you added the files in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374489" y="4325112"/>
            <a:ext cx="1221639" cy="15544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01968" y="4325112"/>
            <a:ext cx="1216517" cy="15544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9768" y="4242816"/>
            <a:ext cx="45720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C38"/>
                </a:solidFill>
                <a:latin typeface="Calibri"/>
              </a:rPr>
              <a:t>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4242816"/>
            <a:ext cx="4114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3412"/>
                </a:solidFill>
                <a:latin typeface="Calibri"/>
              </a:rPr>
              <a:t>No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80760" y="3081528"/>
            <a:ext cx="18288" cy="18288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cess 28"/>
          <p:cNvSpPr/>
          <p:nvPr/>
        </p:nvSpPr>
        <p:spPr>
          <a:xfrm>
            <a:off x="1965960" y="5532120"/>
            <a:ext cx="8229600" cy="658368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D4E89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7"/>
                </a:solidFill>
                <a:latin typeface="Calibri"/>
              </a:rPr>
              <a:t>Move a row up or down, or remove a file you do not want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127248" y="5330952"/>
            <a:ext cx="0" cy="192024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61704" y="5330952"/>
            <a:ext cx="0" cy="192024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863840" y="6355080"/>
            <a:ext cx="402336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Continued on page 2 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E6B"/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"/>
            <a:ext cx="11521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Calibri"/>
              </a:rPr>
              <a:t>Choose retype, then Process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F4A5A"/>
                </a:solidFill>
                <a:latin typeface="Calibri"/>
              </a:rPr>
              <a:t>Page 2 of 3   ·   The application builds the package</a:t>
            </a:r>
          </a:p>
        </p:txBody>
      </p:sp>
      <p:sp>
        <p:nvSpPr>
          <p:cNvPr id="4" name="Terminator 3"/>
          <p:cNvSpPr/>
          <p:nvPr/>
        </p:nvSpPr>
        <p:spPr>
          <a:xfrm>
            <a:off x="320040" y="896112"/>
            <a:ext cx="292608" cy="237744"/>
          </a:xfrm>
          <a:prstGeom prst="flowChartTerminator">
            <a:avLst/>
          </a:prstGeom>
          <a:solidFill>
            <a:srgbClr val="1B7A4A"/>
          </a:solidFill>
          <a:ln w="22225">
            <a:solidFill>
              <a:srgbClr val="145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Oval  Start or end</a:t>
            </a:r>
          </a:p>
        </p:txBody>
      </p:sp>
      <p:sp>
        <p:nvSpPr>
          <p:cNvPr id="6" name="Process 5"/>
          <p:cNvSpPr/>
          <p:nvPr/>
        </p:nvSpPr>
        <p:spPr>
          <a:xfrm>
            <a:off x="2468880" y="896112"/>
            <a:ext cx="292608" cy="237744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9806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Rectangle  A step</a:t>
            </a:r>
          </a:p>
        </p:txBody>
      </p:sp>
      <p:sp>
        <p:nvSpPr>
          <p:cNvPr id="8" name="Decision 7"/>
          <p:cNvSpPr/>
          <p:nvPr/>
        </p:nvSpPr>
        <p:spPr>
          <a:xfrm>
            <a:off x="4709160" y="896112"/>
            <a:ext cx="292608" cy="237744"/>
          </a:xfrm>
          <a:prstGeom prst="flowChartDecision">
            <a:avLst/>
          </a:prstGeom>
          <a:solidFill>
            <a:srgbClr val="FFF4D4"/>
          </a:solidFill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3834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Diamond  Yes or no</a:t>
            </a:r>
          </a:p>
        </p:txBody>
      </p:sp>
      <p:sp>
        <p:nvSpPr>
          <p:cNvPr id="10" name="Data 9"/>
          <p:cNvSpPr/>
          <p:nvPr/>
        </p:nvSpPr>
        <p:spPr>
          <a:xfrm>
            <a:off x="7040880" y="896112"/>
            <a:ext cx="292608" cy="237744"/>
          </a:xfrm>
          <a:prstGeom prst="flowChartInputOutput">
            <a:avLst/>
          </a:prstGeom>
          <a:solidFill>
            <a:srgbClr val="EEF2FF"/>
          </a:solidFill>
          <a:ln w="22225">
            <a:solidFill>
              <a:srgbClr val="373A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6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Slanted  Files you add</a:t>
            </a:r>
          </a:p>
        </p:txBody>
      </p:sp>
      <p:sp>
        <p:nvSpPr>
          <p:cNvPr id="12" name="Document 11"/>
          <p:cNvSpPr/>
          <p:nvPr/>
        </p:nvSpPr>
        <p:spPr>
          <a:xfrm>
            <a:off x="9464040" y="896112"/>
            <a:ext cx="292608" cy="237744"/>
          </a:xfrm>
          <a:prstGeom prst="flowChartDocument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322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Document  File produced</a:t>
            </a:r>
          </a:p>
        </p:txBody>
      </p:sp>
      <p:sp>
        <p:nvSpPr>
          <p:cNvPr id="14" name="Decision 13"/>
          <p:cNvSpPr/>
          <p:nvPr/>
        </p:nvSpPr>
        <p:spPr>
          <a:xfrm>
            <a:off x="4956048" y="1298448"/>
            <a:ext cx="2286000" cy="1051560"/>
          </a:xfrm>
          <a:prstGeom prst="flowChartDecision">
            <a:avLst/>
          </a:prstGeom>
          <a:solidFill>
            <a:srgbClr val="FFF4D4"/>
          </a:solidFill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1917"/>
                </a:solidFill>
                <a:latin typeface="Calibri"/>
              </a:rPr>
              <a:t>Retype on?</a:t>
            </a:r>
          </a:p>
        </p:txBody>
      </p:sp>
      <p:sp>
        <p:nvSpPr>
          <p:cNvPr id="15" name="Process 14"/>
          <p:cNvSpPr/>
          <p:nvPr/>
        </p:nvSpPr>
        <p:spPr>
          <a:xfrm>
            <a:off x="292608" y="2505456"/>
            <a:ext cx="5669280" cy="914400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Rewrite the cover day, the HCE %, and off-calendar 402(g) dates where that text is found</a:t>
            </a:r>
          </a:p>
        </p:txBody>
      </p:sp>
      <p:sp>
        <p:nvSpPr>
          <p:cNvPr id="16" name="Process 15"/>
          <p:cNvSpPr/>
          <p:nvPr/>
        </p:nvSpPr>
        <p:spPr>
          <a:xfrm>
            <a:off x="6236208" y="2505456"/>
            <a:ext cx="5650992" cy="914400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Leave dates and percentages as printed. This is the default.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374489" y="2350008"/>
            <a:ext cx="1221639" cy="15544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601968" y="2350008"/>
            <a:ext cx="1216517" cy="15544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9768" y="2267712"/>
            <a:ext cx="45720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C38"/>
                </a:solidFill>
                <a:latin typeface="Calibri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2267712"/>
            <a:ext cx="4114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3412"/>
                </a:solidFill>
                <a:latin typeface="Calibri"/>
              </a:rPr>
              <a:t>No</a:t>
            </a:r>
          </a:p>
        </p:txBody>
      </p:sp>
      <p:sp>
        <p:nvSpPr>
          <p:cNvPr id="21" name="Process 20"/>
          <p:cNvSpPr/>
          <p:nvPr/>
        </p:nvSpPr>
        <p:spPr>
          <a:xfrm>
            <a:off x="3017520" y="3657600"/>
            <a:ext cx="6126480" cy="566928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D4E89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C1917"/>
                </a:solidFill>
                <a:latin typeface="Calibri"/>
              </a:rPr>
              <a:t>Click Process package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27248" y="3429000"/>
            <a:ext cx="0" cy="219456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061704" y="3429000"/>
            <a:ext cx="0" cy="219456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cess 23"/>
          <p:cNvSpPr/>
          <p:nvPr/>
        </p:nvSpPr>
        <p:spPr>
          <a:xfrm>
            <a:off x="292608" y="4443984"/>
            <a:ext cx="2788920" cy="932688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Merge the pages into one PDF</a:t>
            </a:r>
          </a:p>
        </p:txBody>
      </p:sp>
      <p:sp>
        <p:nvSpPr>
          <p:cNvPr id="25" name="Process 24"/>
          <p:cNvSpPr/>
          <p:nvPr/>
        </p:nvSpPr>
        <p:spPr>
          <a:xfrm>
            <a:off x="3246120" y="4443984"/>
            <a:ext cx="2880360" cy="932688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Read the plan number, year, method, and amounts</a:t>
            </a:r>
          </a:p>
        </p:txBody>
      </p:sp>
      <p:sp>
        <p:nvSpPr>
          <p:cNvPr id="26" name="Process 25"/>
          <p:cNvSpPr/>
          <p:nvPr/>
        </p:nvSpPr>
        <p:spPr>
          <a:xfrm>
            <a:off x="6291072" y="4443984"/>
            <a:ext cx="2880360" cy="932688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1917"/>
                </a:solidFill>
                <a:latin typeface="Calibri"/>
              </a:rPr>
              <a:t>Keep or remove paragraphs, notices, letters, and bullets</a:t>
            </a:r>
          </a:p>
        </p:txBody>
      </p:sp>
      <p:sp>
        <p:nvSpPr>
          <p:cNvPr id="27" name="Process 26"/>
          <p:cNvSpPr/>
          <p:nvPr/>
        </p:nvSpPr>
        <p:spPr>
          <a:xfrm>
            <a:off x="9326880" y="4443984"/>
            <a:ext cx="2560320" cy="932688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Fill QNEC and refund amounts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99815" y="4910328"/>
            <a:ext cx="128017" cy="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144767" y="4910328"/>
            <a:ext cx="128017" cy="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89719" y="4910328"/>
            <a:ext cx="118873" cy="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80760" y="4224528"/>
            <a:ext cx="0" cy="109728"/>
          </a:xfrm>
          <a:prstGeom prst="line">
            <a:avLst/>
          </a:prstGeom>
          <a:ln w="22225">
            <a:solidFill>
              <a:srgbClr val="3F4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687068" y="4334256"/>
            <a:ext cx="4393692" cy="0"/>
          </a:xfrm>
          <a:prstGeom prst="line">
            <a:avLst/>
          </a:prstGeom>
          <a:ln w="22225">
            <a:solidFill>
              <a:srgbClr val="3F4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87068" y="4334256"/>
            <a:ext cx="0" cy="10972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rocess 33"/>
          <p:cNvSpPr/>
          <p:nvPr/>
        </p:nvSpPr>
        <p:spPr>
          <a:xfrm>
            <a:off x="292608" y="5532120"/>
            <a:ext cx="11594592" cy="530352"/>
          </a:xfrm>
          <a:prstGeom prst="flowChartProcess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Add bookmarks for the sections that remain, and flag a page if an SSN pattern is found</a:t>
            </a:r>
          </a:p>
        </p:txBody>
      </p:sp>
      <p:sp>
        <p:nvSpPr>
          <p:cNvPr id="35" name="Document 34"/>
          <p:cNvSpPr/>
          <p:nvPr/>
        </p:nvSpPr>
        <p:spPr>
          <a:xfrm>
            <a:off x="292608" y="6181344"/>
            <a:ext cx="11594592" cy="548640"/>
          </a:xfrm>
          <a:prstGeom prst="flowChartDocument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E6B"/>
                </a:solidFill>
                <a:latin typeface="Calibri"/>
              </a:rPr>
              <a:t>Application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Save PlanNumber_BeginningYear-Valuation.pdf, an Outlook draft, and a log row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607040" y="5385816"/>
            <a:ext cx="0" cy="13716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89904" y="6071616"/>
            <a:ext cx="0" cy="100584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E6B"/>
          </a:solidFill>
          <a:ln w="222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"/>
            <a:ext cx="11521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E3A5F"/>
                </a:solidFill>
                <a:latin typeface="Calibri"/>
              </a:rPr>
              <a:t>Preview, download, and finish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F4A5A"/>
                </a:solidFill>
                <a:latin typeface="Calibri"/>
              </a:rPr>
              <a:t>Page 3 of 3   ·   Yellow marks stay in the preview only</a:t>
            </a:r>
          </a:p>
        </p:txBody>
      </p:sp>
      <p:sp>
        <p:nvSpPr>
          <p:cNvPr id="4" name="Terminator 3"/>
          <p:cNvSpPr/>
          <p:nvPr/>
        </p:nvSpPr>
        <p:spPr>
          <a:xfrm>
            <a:off x="320040" y="896112"/>
            <a:ext cx="292608" cy="237744"/>
          </a:xfrm>
          <a:prstGeom prst="flowChartTerminator">
            <a:avLst/>
          </a:prstGeom>
          <a:solidFill>
            <a:srgbClr val="1B7A4A"/>
          </a:solidFill>
          <a:ln w="22225">
            <a:solidFill>
              <a:srgbClr val="145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Oval  Start or end</a:t>
            </a:r>
          </a:p>
        </p:txBody>
      </p:sp>
      <p:sp>
        <p:nvSpPr>
          <p:cNvPr id="6" name="Process 5"/>
          <p:cNvSpPr/>
          <p:nvPr/>
        </p:nvSpPr>
        <p:spPr>
          <a:xfrm>
            <a:off x="2468880" y="896112"/>
            <a:ext cx="292608" cy="237744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9806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Rectangle  A step</a:t>
            </a:r>
          </a:p>
        </p:txBody>
      </p:sp>
      <p:sp>
        <p:nvSpPr>
          <p:cNvPr id="8" name="Decision 7"/>
          <p:cNvSpPr/>
          <p:nvPr/>
        </p:nvSpPr>
        <p:spPr>
          <a:xfrm>
            <a:off x="4709160" y="896112"/>
            <a:ext cx="292608" cy="237744"/>
          </a:xfrm>
          <a:prstGeom prst="flowChartDecision">
            <a:avLst/>
          </a:prstGeom>
          <a:solidFill>
            <a:srgbClr val="FFF4D4"/>
          </a:solidFill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3834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Diamond  Yes or no</a:t>
            </a:r>
          </a:p>
        </p:txBody>
      </p:sp>
      <p:sp>
        <p:nvSpPr>
          <p:cNvPr id="10" name="Data 9"/>
          <p:cNvSpPr/>
          <p:nvPr/>
        </p:nvSpPr>
        <p:spPr>
          <a:xfrm>
            <a:off x="7040880" y="896112"/>
            <a:ext cx="292608" cy="237744"/>
          </a:xfrm>
          <a:prstGeom prst="flowChartInputOutput">
            <a:avLst/>
          </a:prstGeom>
          <a:solidFill>
            <a:srgbClr val="EEF2FF"/>
          </a:solidFill>
          <a:ln w="22225">
            <a:solidFill>
              <a:srgbClr val="373A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6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Slanted  Files you add</a:t>
            </a:r>
          </a:p>
        </p:txBody>
      </p:sp>
      <p:sp>
        <p:nvSpPr>
          <p:cNvPr id="12" name="Document 11"/>
          <p:cNvSpPr/>
          <p:nvPr/>
        </p:nvSpPr>
        <p:spPr>
          <a:xfrm>
            <a:off x="9464040" y="896112"/>
            <a:ext cx="292608" cy="237744"/>
          </a:xfrm>
          <a:prstGeom prst="flowChartDocument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3224" y="896112"/>
            <a:ext cx="20116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4A5A"/>
                </a:solidFill>
                <a:latin typeface="Calibri"/>
              </a:rPr>
              <a:t>Document  File produced</a:t>
            </a:r>
          </a:p>
        </p:txBody>
      </p:sp>
      <p:sp>
        <p:nvSpPr>
          <p:cNvPr id="14" name="Decision 13"/>
          <p:cNvSpPr/>
          <p:nvPr/>
        </p:nvSpPr>
        <p:spPr>
          <a:xfrm>
            <a:off x="4956048" y="1298448"/>
            <a:ext cx="2286000" cy="1051560"/>
          </a:xfrm>
          <a:prstGeom prst="flowChartDecision">
            <a:avLst/>
          </a:prstGeom>
          <a:solidFill>
            <a:srgbClr val="FFF4D4"/>
          </a:solidFill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1917"/>
                </a:solidFill>
                <a:latin typeface="Calibri"/>
              </a:rPr>
              <a:t>Highlights?</a:t>
            </a:r>
          </a:p>
        </p:txBody>
      </p:sp>
      <p:sp>
        <p:nvSpPr>
          <p:cNvPr id="15" name="Process 14"/>
          <p:cNvSpPr/>
          <p:nvPr/>
        </p:nvSpPr>
        <p:spPr>
          <a:xfrm>
            <a:off x="292608" y="2505456"/>
            <a:ext cx="5669280" cy="841248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D4E89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Preview shows yellow marks on the words that were rewritten</a:t>
            </a:r>
          </a:p>
        </p:txBody>
      </p:sp>
      <p:sp>
        <p:nvSpPr>
          <p:cNvPr id="16" name="Process 15"/>
          <p:cNvSpPr/>
          <p:nvPr/>
        </p:nvSpPr>
        <p:spPr>
          <a:xfrm>
            <a:off x="6236208" y="2505456"/>
            <a:ext cx="5650992" cy="841248"/>
          </a:xfrm>
          <a:prstGeom prst="flowChartProcess">
            <a:avLst/>
          </a:prstGeom>
          <a:solidFill>
            <a:srgbClr val="E7F0FB"/>
          </a:solidFill>
          <a:ln w="22225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D4E89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1917"/>
                </a:solidFill>
                <a:latin typeface="Calibri"/>
              </a:rPr>
              <a:t>Preview shows the pages with no marks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374489" y="2350008"/>
            <a:ext cx="1221639" cy="15544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601968" y="2350008"/>
            <a:ext cx="1216517" cy="15544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9768" y="2267712"/>
            <a:ext cx="45720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C38"/>
                </a:solidFill>
                <a:latin typeface="Calibri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2267712"/>
            <a:ext cx="411480" cy="219456"/>
          </a:xfrm>
          <a:prstGeom prst="rect">
            <a:avLst/>
          </a:prstGeom>
          <a:noFill/>
        </p:spPr>
        <p:txBody>
          <a:bodyPr wrap="none" lIns="18288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3412"/>
                </a:solidFill>
                <a:latin typeface="Calibri"/>
              </a:rPr>
              <a:t>No</a:t>
            </a:r>
          </a:p>
        </p:txBody>
      </p:sp>
      <p:sp>
        <p:nvSpPr>
          <p:cNvPr id="21" name="Document 20"/>
          <p:cNvSpPr/>
          <p:nvPr/>
        </p:nvSpPr>
        <p:spPr>
          <a:xfrm>
            <a:off x="2194560" y="3566160"/>
            <a:ext cx="7772400" cy="713232"/>
          </a:xfrm>
          <a:prstGeom prst="flowChartDocument">
            <a:avLst/>
          </a:prstGeom>
          <a:solidFill>
            <a:srgbClr val="E5F6F4"/>
          </a:solidFill>
          <a:ln w="22225">
            <a:solidFill>
              <a:srgbClr val="0F6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E6B"/>
                </a:solidFill>
                <a:latin typeface="Calibri"/>
              </a:rPr>
              <a:t>You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7"/>
                </a:solidFill>
                <a:latin typeface="Calibri"/>
              </a:rPr>
              <a:t>Download the PDF. The yellow marks are never in that file.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27248" y="3355848"/>
            <a:ext cx="0" cy="20116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061704" y="3355848"/>
            <a:ext cx="0" cy="201168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cess 23"/>
          <p:cNvSpPr/>
          <p:nvPr/>
        </p:nvSpPr>
        <p:spPr>
          <a:xfrm>
            <a:off x="2194560" y="4480560"/>
            <a:ext cx="7772400" cy="658368"/>
          </a:xfrm>
          <a:prstGeom prst="flowChartProcess">
            <a:avLst/>
          </a:prstGeom>
          <a:solidFill>
            <a:srgbClr val="F4ECFF"/>
          </a:solidFill>
          <a:ln w="2222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Calibri"/>
              </a:rPr>
              <a:t>By hand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1917"/>
                </a:solidFill>
                <a:latin typeface="Calibri"/>
              </a:rPr>
              <a:t>Send the email. The draft is ready. The application does not send it.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4288536"/>
            <a:ext cx="0" cy="182880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rminator 25"/>
          <p:cNvSpPr/>
          <p:nvPr/>
        </p:nvSpPr>
        <p:spPr>
          <a:xfrm>
            <a:off x="5074920" y="5321808"/>
            <a:ext cx="2011680" cy="530352"/>
          </a:xfrm>
          <a:prstGeom prst="flowChartTerminator">
            <a:avLst/>
          </a:prstGeom>
          <a:solidFill>
            <a:srgbClr val="1B7A4A"/>
          </a:solidFill>
          <a:ln w="22225">
            <a:solidFill>
              <a:srgbClr val="145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End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80760" y="5148072"/>
            <a:ext cx="0" cy="164592"/>
          </a:xfrm>
          <a:prstGeom prst="line">
            <a:avLst/>
          </a:prstGeom>
          <a:ln w="22225">
            <a:solidFill>
              <a:srgbClr val="3F4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20040" y="5989320"/>
            <a:ext cx="11521440" cy="713232"/>
          </a:xfrm>
          <a:prstGeom prst="roundRect">
            <a:avLst/>
          </a:prstGeom>
          <a:solidFill>
            <a:srgbClr val="FFFBF0"/>
          </a:solidFill>
          <a:ln w="22225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A3412"/>
                </a:solidFill>
                <a:latin typeface="Calibri"/>
              </a:rPr>
              <a:t>Still done by you, outside this flow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1917"/>
                </a:solidFill>
                <a:latin typeface="Calibri"/>
              </a:rPr>
              <a:t>Testing Log claim   ·   converting a non-PDF   ·   any company name besides Mutual of America   ·   page order inside a 410(b)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the application works — start to finish</dc:title>
  <dc:subject>Flowchart for a new user of the valuation package application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