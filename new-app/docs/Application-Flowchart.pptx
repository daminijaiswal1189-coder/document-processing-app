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6E6B"/>
          </a:solidFill>
          <a:ln w="22225">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46304"/>
            <a:ext cx="11521440" cy="658368"/>
          </a:xfrm>
          <a:prstGeom prst="rect">
            <a:avLst/>
          </a:prstGeom>
          <a:noFill/>
        </p:spPr>
        <p:txBody>
          <a:bodyPr wrap="none">
            <a:spAutoFit/>
          </a:bodyPr>
          <a:lstStyle/>
          <a:p>
            <a:pPr algn="l">
              <a:spcBef>
                <a:spcPts val="0"/>
              </a:spcBef>
              <a:spcAft>
                <a:spcPts val="0"/>
              </a:spcAft>
            </a:pPr>
            <a:r>
              <a:rPr sz="2600" b="1">
                <a:solidFill>
                  <a:srgbClr val="1E3A5F"/>
                </a:solidFill>
                <a:latin typeface="Calibri"/>
              </a:rPr>
              <a:t>How the application works</a:t>
            </a:r>
          </a:p>
          <a:p>
            <a:pPr algn="l">
              <a:spcBef>
                <a:spcPts val="0"/>
              </a:spcBef>
              <a:spcAft>
                <a:spcPts val="0"/>
              </a:spcAft>
            </a:pPr>
            <a:r>
              <a:rPr sz="1400" b="0">
                <a:solidFill>
                  <a:srgbClr val="3F4A5A"/>
                </a:solidFill>
                <a:latin typeface="Calibri"/>
              </a:rPr>
              <a:t>Page 1 of 4   ·   You prepare the files</a:t>
            </a:r>
          </a:p>
        </p:txBody>
      </p:sp>
      <p:sp>
        <p:nvSpPr>
          <p:cNvPr id="4" name="Terminator 3"/>
          <p:cNvSpPr/>
          <p:nvPr/>
        </p:nvSpPr>
        <p:spPr>
          <a:xfrm>
            <a:off x="320040" y="896112"/>
            <a:ext cx="292608" cy="237744"/>
          </a:xfrm>
          <a:prstGeom prst="flowChartTerminator">
            <a:avLst/>
          </a:prstGeom>
          <a:solidFill>
            <a:srgbClr val="1B7A4A"/>
          </a:solidFill>
          <a:ln w="22225">
            <a:solidFill>
              <a:srgbClr val="145C38"/>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5" name="TextBox 4"/>
          <p:cNvSpPr txBox="1"/>
          <p:nvPr/>
        </p:nvSpPr>
        <p:spPr>
          <a:xfrm>
            <a:off x="649224" y="896112"/>
            <a:ext cx="2011680" cy="219456"/>
          </a:xfrm>
          <a:prstGeom prst="rect">
            <a:avLst/>
          </a:prstGeom>
          <a:noFill/>
        </p:spPr>
        <p:txBody>
          <a:bodyPr wrap="none" lIns="18288" tIns="0" bIns="0">
            <a:spAutoFit/>
          </a:bodyPr>
          <a:lstStyle/>
          <a:p>
            <a:pPr algn="ctr">
              <a:spcBef>
                <a:spcPts val="0"/>
              </a:spcBef>
              <a:spcAft>
                <a:spcPts val="0"/>
              </a:spcAft>
            </a:pPr>
            <a:r>
              <a:rPr sz="1200" b="1">
                <a:solidFill>
                  <a:srgbClr val="3F4A5A"/>
                </a:solidFill>
                <a:latin typeface="Calibri"/>
              </a:rPr>
              <a:t>Oval  Start or end</a:t>
            </a:r>
          </a:p>
        </p:txBody>
      </p:sp>
      <p:sp>
        <p:nvSpPr>
          <p:cNvPr id="6" name="Process 5"/>
          <p:cNvSpPr/>
          <p:nvPr/>
        </p:nvSpPr>
        <p:spPr>
          <a:xfrm>
            <a:off x="2468880" y="896112"/>
            <a:ext cx="292608" cy="237744"/>
          </a:xfrm>
          <a:prstGeom prst="flowChartProcess">
            <a:avLst/>
          </a:prstGeom>
          <a:solidFill>
            <a:srgbClr val="E7F0FB"/>
          </a:solidFill>
          <a:ln w="22225">
            <a:solidFill>
              <a:srgbClr val="1D4E8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7" name="TextBox 6"/>
          <p:cNvSpPr txBox="1"/>
          <p:nvPr/>
        </p:nvSpPr>
        <p:spPr>
          <a:xfrm>
            <a:off x="2798064" y="896112"/>
            <a:ext cx="2011680" cy="219456"/>
          </a:xfrm>
          <a:prstGeom prst="rect">
            <a:avLst/>
          </a:prstGeom>
          <a:noFill/>
        </p:spPr>
        <p:txBody>
          <a:bodyPr wrap="none" lIns="18288" tIns="0" bIns="0">
            <a:spAutoFit/>
          </a:bodyPr>
          <a:lstStyle/>
          <a:p>
            <a:pPr algn="ctr">
              <a:spcBef>
                <a:spcPts val="0"/>
              </a:spcBef>
              <a:spcAft>
                <a:spcPts val="0"/>
              </a:spcAft>
            </a:pPr>
            <a:r>
              <a:rPr sz="1200" b="1">
                <a:solidFill>
                  <a:srgbClr val="3F4A5A"/>
                </a:solidFill>
                <a:latin typeface="Calibri"/>
              </a:rPr>
              <a:t>Rectangle  A step</a:t>
            </a:r>
          </a:p>
        </p:txBody>
      </p:sp>
      <p:sp>
        <p:nvSpPr>
          <p:cNvPr id="8" name="Decision 7"/>
          <p:cNvSpPr/>
          <p:nvPr/>
        </p:nvSpPr>
        <p:spPr>
          <a:xfrm>
            <a:off x="4709160" y="896112"/>
            <a:ext cx="292608" cy="237744"/>
          </a:xfrm>
          <a:prstGeom prst="flowChartDecision">
            <a:avLst/>
          </a:prstGeom>
          <a:solidFill>
            <a:srgbClr val="FFF4D4"/>
          </a:solidFill>
          <a:ln w="2222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9" name="TextBox 8"/>
          <p:cNvSpPr txBox="1"/>
          <p:nvPr/>
        </p:nvSpPr>
        <p:spPr>
          <a:xfrm>
            <a:off x="5038344" y="896112"/>
            <a:ext cx="2011680" cy="219456"/>
          </a:xfrm>
          <a:prstGeom prst="rect">
            <a:avLst/>
          </a:prstGeom>
          <a:noFill/>
        </p:spPr>
        <p:txBody>
          <a:bodyPr wrap="none" lIns="18288" tIns="0" bIns="0">
            <a:spAutoFit/>
          </a:bodyPr>
          <a:lstStyle/>
          <a:p>
            <a:pPr algn="ctr">
              <a:spcBef>
                <a:spcPts val="0"/>
              </a:spcBef>
              <a:spcAft>
                <a:spcPts val="0"/>
              </a:spcAft>
            </a:pPr>
            <a:r>
              <a:rPr sz="1200" b="1">
                <a:solidFill>
                  <a:srgbClr val="3F4A5A"/>
                </a:solidFill>
                <a:latin typeface="Calibri"/>
              </a:rPr>
              <a:t>Diamond  Yes or no</a:t>
            </a:r>
          </a:p>
        </p:txBody>
      </p:sp>
      <p:sp>
        <p:nvSpPr>
          <p:cNvPr id="10" name="Data 9"/>
          <p:cNvSpPr/>
          <p:nvPr/>
        </p:nvSpPr>
        <p:spPr>
          <a:xfrm>
            <a:off x="7040880" y="896112"/>
            <a:ext cx="292608" cy="237744"/>
          </a:xfrm>
          <a:prstGeom prst="flowChartInputOutput">
            <a:avLst/>
          </a:prstGeom>
          <a:solidFill>
            <a:srgbClr val="EEF2FF"/>
          </a:solidFill>
          <a:ln w="22225">
            <a:solidFill>
              <a:srgbClr val="373AB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1" name="TextBox 10"/>
          <p:cNvSpPr txBox="1"/>
          <p:nvPr/>
        </p:nvSpPr>
        <p:spPr>
          <a:xfrm>
            <a:off x="7370064" y="896112"/>
            <a:ext cx="2011680" cy="219456"/>
          </a:xfrm>
          <a:prstGeom prst="rect">
            <a:avLst/>
          </a:prstGeom>
          <a:noFill/>
        </p:spPr>
        <p:txBody>
          <a:bodyPr wrap="none" lIns="18288" tIns="0" bIns="0">
            <a:spAutoFit/>
          </a:bodyPr>
          <a:lstStyle/>
          <a:p>
            <a:pPr algn="ctr">
              <a:spcBef>
                <a:spcPts val="0"/>
              </a:spcBef>
              <a:spcAft>
                <a:spcPts val="0"/>
              </a:spcAft>
            </a:pPr>
            <a:r>
              <a:rPr sz="1200" b="1">
                <a:solidFill>
                  <a:srgbClr val="3F4A5A"/>
                </a:solidFill>
                <a:latin typeface="Calibri"/>
              </a:rPr>
              <a:t>Slanted  Files you add</a:t>
            </a:r>
          </a:p>
        </p:txBody>
      </p:sp>
      <p:sp>
        <p:nvSpPr>
          <p:cNvPr id="12" name="Document 11"/>
          <p:cNvSpPr/>
          <p:nvPr/>
        </p:nvSpPr>
        <p:spPr>
          <a:xfrm>
            <a:off x="9464040" y="896112"/>
            <a:ext cx="292608" cy="237744"/>
          </a:xfrm>
          <a:prstGeom prst="flowChartDocument">
            <a:avLst/>
          </a:prstGeom>
          <a:solidFill>
            <a:srgbClr val="E5F6F4"/>
          </a:solidFill>
          <a:ln w="22225">
            <a:solidFill>
              <a:srgbClr val="0F6E6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3" name="TextBox 12"/>
          <p:cNvSpPr txBox="1"/>
          <p:nvPr/>
        </p:nvSpPr>
        <p:spPr>
          <a:xfrm>
            <a:off x="9793224" y="896112"/>
            <a:ext cx="2011680" cy="219456"/>
          </a:xfrm>
          <a:prstGeom prst="rect">
            <a:avLst/>
          </a:prstGeom>
          <a:noFill/>
        </p:spPr>
        <p:txBody>
          <a:bodyPr wrap="none" lIns="18288" tIns="0" bIns="0">
            <a:spAutoFit/>
          </a:bodyPr>
          <a:lstStyle/>
          <a:p>
            <a:pPr algn="ctr">
              <a:spcBef>
                <a:spcPts val="0"/>
              </a:spcBef>
              <a:spcAft>
                <a:spcPts val="0"/>
              </a:spcAft>
            </a:pPr>
            <a:r>
              <a:rPr sz="1200" b="1">
                <a:solidFill>
                  <a:srgbClr val="3F4A5A"/>
                </a:solidFill>
                <a:latin typeface="Calibri"/>
              </a:rPr>
              <a:t>Document  File produced</a:t>
            </a:r>
          </a:p>
        </p:txBody>
      </p:sp>
      <p:sp>
        <p:nvSpPr>
          <p:cNvPr id="14" name="Terminator 13"/>
          <p:cNvSpPr/>
          <p:nvPr/>
        </p:nvSpPr>
        <p:spPr>
          <a:xfrm>
            <a:off x="320040" y="1371600"/>
            <a:ext cx="1417320" cy="713232"/>
          </a:xfrm>
          <a:prstGeom prst="flowChartTerminator">
            <a:avLst/>
          </a:prstGeom>
          <a:solidFill>
            <a:srgbClr val="1B7A4A"/>
          </a:solidFill>
          <a:ln w="22225">
            <a:solidFill>
              <a:srgbClr val="145C38"/>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Bef>
                <a:spcPts val="0"/>
              </a:spcBef>
              <a:spcAft>
                <a:spcPts val="0"/>
              </a:spcAft>
            </a:pPr>
            <a:r>
              <a:rPr sz="1800" b="1">
                <a:solidFill>
                  <a:srgbClr val="FFFFFF"/>
                </a:solidFill>
                <a:latin typeface="Calibri"/>
              </a:rPr>
              <a:t>Start</a:t>
            </a:r>
          </a:p>
        </p:txBody>
      </p:sp>
      <p:sp>
        <p:nvSpPr>
          <p:cNvPr id="15" name="Process 14"/>
          <p:cNvSpPr/>
          <p:nvPr/>
        </p:nvSpPr>
        <p:spPr>
          <a:xfrm>
            <a:off x="2057400" y="1335024"/>
            <a:ext cx="4297680" cy="786384"/>
          </a:xfrm>
          <a:prstGeom prst="flowChartProcess">
            <a:avLst/>
          </a:prstGeom>
          <a:solidFill>
            <a:srgbClr val="E7F0FB"/>
          </a:solidFill>
          <a:ln w="22225">
            <a:solidFill>
              <a:srgbClr val="1D4E8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Bef>
                <a:spcPts val="0"/>
              </a:spcBef>
              <a:spcAft>
                <a:spcPts val="0"/>
              </a:spcAft>
            </a:pPr>
            <a:r>
              <a:rPr sz="1200" b="1">
                <a:solidFill>
                  <a:srgbClr val="1D4E89"/>
                </a:solidFill>
                <a:latin typeface="Calibri"/>
              </a:rPr>
              <a:t>You</a:t>
            </a:r>
          </a:p>
          <a:p>
            <a:pPr algn="ctr">
              <a:spcBef>
                <a:spcPts val="0"/>
              </a:spcBef>
              <a:spcAft>
                <a:spcPts val="0"/>
              </a:spcAft>
            </a:pPr>
            <a:r>
              <a:rPr sz="1400" b="0">
                <a:solidFill>
                  <a:srgbClr val="1C1917"/>
                </a:solidFill>
                <a:latin typeface="Calibri"/>
              </a:rPr>
              <a:t>Open the application in the browser</a:t>
            </a:r>
          </a:p>
        </p:txBody>
      </p:sp>
      <p:sp>
        <p:nvSpPr>
          <p:cNvPr id="16" name="Data 15"/>
          <p:cNvSpPr/>
          <p:nvPr/>
        </p:nvSpPr>
        <p:spPr>
          <a:xfrm>
            <a:off x="6675120" y="1335024"/>
            <a:ext cx="5166360" cy="786384"/>
          </a:xfrm>
          <a:prstGeom prst="flowChartInputOutput">
            <a:avLst/>
          </a:prstGeom>
          <a:solidFill>
            <a:srgbClr val="EEF2FF"/>
          </a:solidFill>
          <a:ln w="22225">
            <a:solidFill>
              <a:srgbClr val="373AB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Bef>
                <a:spcPts val="0"/>
              </a:spcBef>
              <a:spcAft>
                <a:spcPts val="0"/>
              </a:spcAft>
            </a:pPr>
            <a:r>
              <a:rPr sz="1200" b="1">
                <a:solidFill>
                  <a:srgbClr val="373AB0"/>
                </a:solidFill>
                <a:latin typeface="Calibri"/>
              </a:rPr>
              <a:t>You</a:t>
            </a:r>
          </a:p>
          <a:p>
            <a:pPr algn="ctr">
              <a:spcBef>
                <a:spcPts val="0"/>
              </a:spcBef>
              <a:spcAft>
                <a:spcPts val="0"/>
              </a:spcAft>
            </a:pPr>
            <a:r>
              <a:rPr sz="1400" b="0">
                <a:solidFill>
                  <a:srgbClr val="1C1917"/>
                </a:solidFill>
                <a:latin typeface="Calibri"/>
              </a:rPr>
              <a:t>Upload PDFs and Excel, or paste the folder path</a:t>
            </a:r>
          </a:p>
        </p:txBody>
      </p:sp>
      <p:cxnSp>
        <p:nvCxnSpPr>
          <p:cNvPr id="17" name="Connector 16"/>
          <p:cNvCxnSpPr/>
          <p:nvPr/>
        </p:nvCxnSpPr>
        <p:spPr>
          <a:xfrm>
            <a:off x="1755648" y="1728216"/>
            <a:ext cx="283464" cy="0"/>
          </a:xfrm>
          <a:prstGeom prst="line">
            <a:avLst/>
          </a:prstGeom>
          <a:ln w="22225">
            <a:solidFill>
              <a:srgbClr val="3F4A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373368" y="1728216"/>
            <a:ext cx="283464" cy="0"/>
          </a:xfrm>
          <a:prstGeom prst="line">
            <a:avLst/>
          </a:prstGeom>
          <a:ln w="22225">
            <a:solidFill>
              <a:srgbClr val="3F4A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Process 18"/>
          <p:cNvSpPr/>
          <p:nvPr/>
        </p:nvSpPr>
        <p:spPr>
          <a:xfrm>
            <a:off x="1965960" y="2359152"/>
            <a:ext cx="8229600" cy="713232"/>
          </a:xfrm>
          <a:prstGeom prst="flowChartProcess">
            <a:avLst/>
          </a:prstGeom>
          <a:solidFill>
            <a:srgbClr val="E5F6F4"/>
          </a:solidFill>
          <a:ln w="22225">
            <a:solidFill>
              <a:srgbClr val="0F6E6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Bef>
                <a:spcPts val="0"/>
              </a:spcBef>
              <a:spcAft>
                <a:spcPts val="0"/>
              </a:spcAft>
            </a:pPr>
            <a:r>
              <a:rPr sz="1200" b="1">
                <a:solidFill>
                  <a:srgbClr val="0F6E6B"/>
                </a:solidFill>
                <a:latin typeface="Calibri"/>
              </a:rPr>
              <a:t>Application</a:t>
            </a:r>
          </a:p>
          <a:p>
            <a:pPr algn="ctr">
              <a:spcBef>
                <a:spcPts val="0"/>
              </a:spcBef>
              <a:spcAft>
                <a:spcPts val="0"/>
              </a:spcAft>
            </a:pPr>
            <a:r>
              <a:rPr sz="1400" b="0">
                <a:solidFill>
                  <a:srgbClr val="1C1917"/>
                </a:solidFill>
                <a:latin typeface="Calibri"/>
              </a:rPr>
              <a:t>List every file. A multi-page cover splits into named pages.</a:t>
            </a:r>
          </a:p>
        </p:txBody>
      </p:sp>
      <p:cxnSp>
        <p:nvCxnSpPr>
          <p:cNvPr id="20" name="Connector 19"/>
          <p:cNvCxnSpPr/>
          <p:nvPr/>
        </p:nvCxnSpPr>
        <p:spPr>
          <a:xfrm>
            <a:off x="9258300" y="2130551"/>
            <a:ext cx="0" cy="219457"/>
          </a:xfrm>
          <a:prstGeom prst="line">
            <a:avLst/>
          </a:prstGeom>
          <a:ln w="22225">
            <a:solidFill>
              <a:srgbClr val="3F4A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Decision 20"/>
          <p:cNvSpPr/>
          <p:nvPr/>
        </p:nvSpPr>
        <p:spPr>
          <a:xfrm>
            <a:off x="4956048" y="3273552"/>
            <a:ext cx="2286000" cy="1051560"/>
          </a:xfrm>
          <a:prstGeom prst="flowChartDecision">
            <a:avLst/>
          </a:prstGeom>
          <a:solidFill>
            <a:srgbClr val="FFF4D4"/>
          </a:solidFill>
          <a:ln w="2222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Bef>
                <a:spcPts val="0"/>
              </a:spcBef>
              <a:spcAft>
                <a:spcPts val="0"/>
              </a:spcAft>
            </a:pPr>
            <a:r>
              <a:rPr sz="1500" b="1">
                <a:solidFill>
                  <a:srgbClr val="1C1917"/>
                </a:solidFill>
                <a:latin typeface="Calibri"/>
              </a:rPr>
              <a:t>Auto-order?</a:t>
            </a:r>
          </a:p>
        </p:txBody>
      </p:sp>
      <p:sp>
        <p:nvSpPr>
          <p:cNvPr id="22" name="Process 21"/>
          <p:cNvSpPr/>
          <p:nvPr/>
        </p:nvSpPr>
        <p:spPr>
          <a:xfrm>
            <a:off x="292608" y="4480560"/>
            <a:ext cx="5669280" cy="841248"/>
          </a:xfrm>
          <a:prstGeom prst="flowChartProcess">
            <a:avLst/>
          </a:prstGeom>
          <a:solidFill>
            <a:srgbClr val="E5F6F4"/>
          </a:solidFill>
          <a:ln w="22225">
            <a:solidFill>
              <a:srgbClr val="0F6E6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Bef>
                <a:spcPts val="0"/>
              </a:spcBef>
              <a:spcAft>
                <a:spcPts val="0"/>
              </a:spcAft>
            </a:pPr>
            <a:r>
              <a:rPr sz="1200" b="1">
                <a:solidFill>
                  <a:srgbClr val="0F6E6B"/>
                </a:solidFill>
                <a:latin typeface="Calibri"/>
              </a:rPr>
              <a:t>Application</a:t>
            </a:r>
          </a:p>
          <a:p>
            <a:pPr algn="ctr">
              <a:spcBef>
                <a:spcPts val="0"/>
              </a:spcBef>
              <a:spcAft>
                <a:spcPts val="0"/>
              </a:spcAft>
            </a:pPr>
            <a:r>
              <a:rPr sz="1300" b="0">
                <a:solidFill>
                  <a:srgbClr val="1C1917"/>
                </a:solidFill>
                <a:latin typeface="Calibri"/>
              </a:rPr>
              <a:t>Sort by filename keywords: Cover, Result, ADP, 402, Census, and the others</a:t>
            </a:r>
          </a:p>
        </p:txBody>
      </p:sp>
      <p:sp>
        <p:nvSpPr>
          <p:cNvPr id="23" name="Process 22"/>
          <p:cNvSpPr/>
          <p:nvPr/>
        </p:nvSpPr>
        <p:spPr>
          <a:xfrm>
            <a:off x="6236208" y="4480560"/>
            <a:ext cx="5650992" cy="841248"/>
          </a:xfrm>
          <a:prstGeom prst="flowChartProcess">
            <a:avLst/>
          </a:prstGeom>
          <a:solidFill>
            <a:srgbClr val="E7F0FB"/>
          </a:solidFill>
          <a:ln w="22225">
            <a:solidFill>
              <a:srgbClr val="1D4E8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Bef>
                <a:spcPts val="0"/>
              </a:spcBef>
              <a:spcAft>
                <a:spcPts val="0"/>
              </a:spcAft>
            </a:pPr>
            <a:r>
              <a:rPr sz="1200" b="1">
                <a:solidFill>
                  <a:srgbClr val="1D4E89"/>
                </a:solidFill>
                <a:latin typeface="Calibri"/>
              </a:rPr>
              <a:t>You</a:t>
            </a:r>
          </a:p>
          <a:p>
            <a:pPr algn="ctr">
              <a:spcBef>
                <a:spcPts val="0"/>
              </a:spcBef>
              <a:spcAft>
                <a:spcPts val="0"/>
              </a:spcAft>
            </a:pPr>
            <a:r>
              <a:rPr sz="1300" b="0">
                <a:solidFill>
                  <a:srgbClr val="1C1917"/>
                </a:solidFill>
                <a:latin typeface="Calibri"/>
              </a:rPr>
              <a:t>Keep the order you added the files in</a:t>
            </a:r>
          </a:p>
        </p:txBody>
      </p:sp>
      <p:cxnSp>
        <p:nvCxnSpPr>
          <p:cNvPr id="24" name="Connector 23"/>
          <p:cNvCxnSpPr/>
          <p:nvPr/>
        </p:nvCxnSpPr>
        <p:spPr>
          <a:xfrm flipH="1">
            <a:off x="4374489" y="4325112"/>
            <a:ext cx="1221639" cy="155448"/>
          </a:xfrm>
          <a:prstGeom prst="line">
            <a:avLst/>
          </a:prstGeom>
          <a:ln w="22225">
            <a:solidFill>
              <a:srgbClr val="3F4A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6601968" y="4325112"/>
            <a:ext cx="1216517" cy="155448"/>
          </a:xfrm>
          <a:prstGeom prst="line">
            <a:avLst/>
          </a:prstGeom>
          <a:ln w="22225">
            <a:solidFill>
              <a:srgbClr val="3F4A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429768" y="4242816"/>
            <a:ext cx="457200" cy="219456"/>
          </a:xfrm>
          <a:prstGeom prst="rect">
            <a:avLst/>
          </a:prstGeom>
          <a:noFill/>
        </p:spPr>
        <p:txBody>
          <a:bodyPr wrap="none" lIns="18288" tIns="0" bIns="0">
            <a:spAutoFit/>
          </a:bodyPr>
          <a:lstStyle/>
          <a:p>
            <a:pPr algn="ctr">
              <a:spcBef>
                <a:spcPts val="0"/>
              </a:spcBef>
              <a:spcAft>
                <a:spcPts val="0"/>
              </a:spcAft>
            </a:pPr>
            <a:r>
              <a:rPr sz="1200" b="1">
                <a:solidFill>
                  <a:srgbClr val="145C38"/>
                </a:solidFill>
                <a:latin typeface="Calibri"/>
              </a:rPr>
              <a:t>Yes</a:t>
            </a:r>
          </a:p>
        </p:txBody>
      </p:sp>
      <p:sp>
        <p:nvSpPr>
          <p:cNvPr id="27" name="TextBox 26"/>
          <p:cNvSpPr txBox="1"/>
          <p:nvPr/>
        </p:nvSpPr>
        <p:spPr>
          <a:xfrm>
            <a:off x="11338560" y="4242816"/>
            <a:ext cx="411480" cy="219456"/>
          </a:xfrm>
          <a:prstGeom prst="rect">
            <a:avLst/>
          </a:prstGeom>
          <a:noFill/>
        </p:spPr>
        <p:txBody>
          <a:bodyPr wrap="none" lIns="18288" tIns="0" bIns="0">
            <a:spAutoFit/>
          </a:bodyPr>
          <a:lstStyle/>
          <a:p>
            <a:pPr algn="ctr">
              <a:spcBef>
                <a:spcPts val="0"/>
              </a:spcBef>
              <a:spcAft>
                <a:spcPts val="0"/>
              </a:spcAft>
            </a:pPr>
            <a:r>
              <a:rPr sz="1200" b="1">
                <a:solidFill>
                  <a:srgbClr val="9A3412"/>
                </a:solidFill>
                <a:latin typeface="Calibri"/>
              </a:rPr>
              <a:t>No</a:t>
            </a:r>
          </a:p>
        </p:txBody>
      </p:sp>
      <p:cxnSp>
        <p:nvCxnSpPr>
          <p:cNvPr id="28" name="Connector 27"/>
          <p:cNvCxnSpPr/>
          <p:nvPr/>
        </p:nvCxnSpPr>
        <p:spPr>
          <a:xfrm>
            <a:off x="6080760" y="3081528"/>
            <a:ext cx="18288" cy="182880"/>
          </a:xfrm>
          <a:prstGeom prst="line">
            <a:avLst/>
          </a:prstGeom>
          <a:ln w="22225">
            <a:solidFill>
              <a:srgbClr val="3F4A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Process 28"/>
          <p:cNvSpPr/>
          <p:nvPr/>
        </p:nvSpPr>
        <p:spPr>
          <a:xfrm>
            <a:off x="1965960" y="5532120"/>
            <a:ext cx="8229600" cy="658368"/>
          </a:xfrm>
          <a:prstGeom prst="flowChartProcess">
            <a:avLst/>
          </a:prstGeom>
          <a:solidFill>
            <a:srgbClr val="E7F0FB"/>
          </a:solidFill>
          <a:ln w="22225">
            <a:solidFill>
              <a:srgbClr val="1D4E8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Bef>
                <a:spcPts val="0"/>
              </a:spcBef>
              <a:spcAft>
                <a:spcPts val="0"/>
              </a:spcAft>
            </a:pPr>
            <a:r>
              <a:rPr sz="1200" b="1">
                <a:solidFill>
                  <a:srgbClr val="1D4E89"/>
                </a:solidFill>
                <a:latin typeface="Calibri"/>
              </a:rPr>
              <a:t>You</a:t>
            </a:r>
          </a:p>
          <a:p>
            <a:pPr algn="ctr">
              <a:spcBef>
                <a:spcPts val="0"/>
              </a:spcBef>
              <a:spcAft>
                <a:spcPts val="0"/>
              </a:spcAft>
            </a:pPr>
            <a:r>
              <a:rPr sz="1400" b="0">
                <a:solidFill>
                  <a:srgbClr val="1C1917"/>
                </a:solidFill>
                <a:latin typeface="Calibri"/>
              </a:rPr>
              <a:t>Move a row up or down, or remove a file you do not want</a:t>
            </a:r>
          </a:p>
        </p:txBody>
      </p:sp>
      <p:cxnSp>
        <p:nvCxnSpPr>
          <p:cNvPr id="30" name="Connector 29"/>
          <p:cNvCxnSpPr/>
          <p:nvPr/>
        </p:nvCxnSpPr>
        <p:spPr>
          <a:xfrm>
            <a:off x="3127248" y="5330952"/>
            <a:ext cx="0" cy="192024"/>
          </a:xfrm>
          <a:prstGeom prst="line">
            <a:avLst/>
          </a:prstGeom>
          <a:ln w="22225">
            <a:solidFill>
              <a:srgbClr val="3F4A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9061704" y="5330952"/>
            <a:ext cx="0" cy="192024"/>
          </a:xfrm>
          <a:prstGeom prst="line">
            <a:avLst/>
          </a:prstGeom>
          <a:ln w="22225">
            <a:solidFill>
              <a:srgbClr val="3F4A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7863840" y="6355080"/>
            <a:ext cx="4023360" cy="219456"/>
          </a:xfrm>
          <a:prstGeom prst="rect">
            <a:avLst/>
          </a:prstGeom>
          <a:noFill/>
        </p:spPr>
        <p:txBody>
          <a:bodyPr wrap="none" lIns="18288" tIns="0" bIns="0">
            <a:spAutoFit/>
          </a:bodyPr>
          <a:lstStyle/>
          <a:p>
            <a:pPr algn="ctr">
              <a:spcBef>
                <a:spcPts val="0"/>
              </a:spcBef>
              <a:spcAft>
                <a:spcPts val="0"/>
              </a:spcAft>
            </a:pPr>
            <a:r>
              <a:rPr sz="1200" b="1">
                <a:solidFill>
                  <a:srgbClr val="1E3A5F"/>
                </a:solidFill>
                <a:latin typeface="Calibri"/>
              </a:rPr>
              <a:t>Continued on page 2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6E6B"/>
          </a:solidFill>
          <a:ln w="22225">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46304"/>
            <a:ext cx="11521440" cy="658368"/>
          </a:xfrm>
          <a:prstGeom prst="rect">
            <a:avLst/>
          </a:prstGeom>
          <a:noFill/>
        </p:spPr>
        <p:txBody>
          <a:bodyPr wrap="none">
            <a:spAutoFit/>
          </a:bodyPr>
          <a:lstStyle/>
          <a:p>
            <a:pPr algn="l">
              <a:spcBef>
                <a:spcPts val="0"/>
              </a:spcBef>
              <a:spcAft>
                <a:spcPts val="0"/>
              </a:spcAft>
            </a:pPr>
            <a:r>
              <a:rPr sz="2600" b="1">
                <a:solidFill>
                  <a:srgbClr val="1E3A5F"/>
                </a:solidFill>
                <a:latin typeface="Calibri"/>
              </a:rPr>
              <a:t>Choose retype, then Process</a:t>
            </a:r>
          </a:p>
          <a:p>
            <a:pPr algn="l">
              <a:spcBef>
                <a:spcPts val="0"/>
              </a:spcBef>
              <a:spcAft>
                <a:spcPts val="0"/>
              </a:spcAft>
            </a:pPr>
            <a:r>
              <a:rPr sz="1400" b="0">
                <a:solidFill>
                  <a:srgbClr val="3F4A5A"/>
                </a:solidFill>
                <a:latin typeface="Calibri"/>
              </a:rPr>
              <a:t>Page 2 of 4   ·   The application reads the plan before it checks the pages</a:t>
            </a:r>
          </a:p>
        </p:txBody>
      </p:sp>
      <p:sp>
        <p:nvSpPr>
          <p:cNvPr id="4" name="Terminator 3"/>
          <p:cNvSpPr/>
          <p:nvPr/>
        </p:nvSpPr>
        <p:spPr>
          <a:xfrm>
            <a:off x="320040" y="896112"/>
            <a:ext cx="292608" cy="237744"/>
          </a:xfrm>
          <a:prstGeom prst="flowChartTerminator">
            <a:avLst/>
          </a:prstGeom>
          <a:solidFill>
            <a:srgbClr val="1B7A4A"/>
          </a:solidFill>
          <a:ln w="22225">
            <a:solidFill>
              <a:srgbClr val="145C38"/>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5" name="TextBox 4"/>
          <p:cNvSpPr txBox="1"/>
          <p:nvPr/>
        </p:nvSpPr>
        <p:spPr>
          <a:xfrm>
            <a:off x="649224" y="896112"/>
            <a:ext cx="2011680" cy="219456"/>
          </a:xfrm>
          <a:prstGeom prst="rect">
            <a:avLst/>
          </a:prstGeom>
          <a:noFill/>
        </p:spPr>
        <p:txBody>
          <a:bodyPr wrap="none" lIns="18288" tIns="0" bIns="0">
            <a:spAutoFit/>
          </a:bodyPr>
          <a:lstStyle/>
          <a:p>
            <a:pPr algn="ctr">
              <a:spcBef>
                <a:spcPts val="0"/>
              </a:spcBef>
              <a:spcAft>
                <a:spcPts val="0"/>
              </a:spcAft>
            </a:pPr>
            <a:r>
              <a:rPr sz="1200" b="1">
                <a:solidFill>
                  <a:srgbClr val="3F4A5A"/>
                </a:solidFill>
                <a:latin typeface="Calibri"/>
              </a:rPr>
              <a:t>Oval  Start or end</a:t>
            </a:r>
          </a:p>
        </p:txBody>
      </p:sp>
      <p:sp>
        <p:nvSpPr>
          <p:cNvPr id="6" name="Process 5"/>
          <p:cNvSpPr/>
          <p:nvPr/>
        </p:nvSpPr>
        <p:spPr>
          <a:xfrm>
            <a:off x="2468880" y="896112"/>
            <a:ext cx="292608" cy="237744"/>
          </a:xfrm>
          <a:prstGeom prst="flowChartProcess">
            <a:avLst/>
          </a:prstGeom>
          <a:solidFill>
            <a:srgbClr val="E7F0FB"/>
          </a:solidFill>
          <a:ln w="22225">
            <a:solidFill>
              <a:srgbClr val="1D4E8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7" name="TextBox 6"/>
          <p:cNvSpPr txBox="1"/>
          <p:nvPr/>
        </p:nvSpPr>
        <p:spPr>
          <a:xfrm>
            <a:off x="2798064" y="896112"/>
            <a:ext cx="2011680" cy="219456"/>
          </a:xfrm>
          <a:prstGeom prst="rect">
            <a:avLst/>
          </a:prstGeom>
          <a:noFill/>
        </p:spPr>
        <p:txBody>
          <a:bodyPr wrap="none" lIns="18288" tIns="0" bIns="0">
            <a:spAutoFit/>
          </a:bodyPr>
          <a:lstStyle/>
          <a:p>
            <a:pPr algn="ctr">
              <a:spcBef>
                <a:spcPts val="0"/>
              </a:spcBef>
              <a:spcAft>
                <a:spcPts val="0"/>
              </a:spcAft>
            </a:pPr>
            <a:r>
              <a:rPr sz="1200" b="1">
                <a:solidFill>
                  <a:srgbClr val="3F4A5A"/>
                </a:solidFill>
                <a:latin typeface="Calibri"/>
              </a:rPr>
              <a:t>Rectangle  A step</a:t>
            </a:r>
          </a:p>
        </p:txBody>
      </p:sp>
      <p:sp>
        <p:nvSpPr>
          <p:cNvPr id="8" name="Decision 7"/>
          <p:cNvSpPr/>
          <p:nvPr/>
        </p:nvSpPr>
        <p:spPr>
          <a:xfrm>
            <a:off x="4709160" y="896112"/>
            <a:ext cx="292608" cy="237744"/>
          </a:xfrm>
          <a:prstGeom prst="flowChartDecision">
            <a:avLst/>
          </a:prstGeom>
          <a:solidFill>
            <a:srgbClr val="FFF4D4"/>
          </a:solidFill>
          <a:ln w="2222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9" name="TextBox 8"/>
          <p:cNvSpPr txBox="1"/>
          <p:nvPr/>
        </p:nvSpPr>
        <p:spPr>
          <a:xfrm>
            <a:off x="5038344" y="896112"/>
            <a:ext cx="2011680" cy="219456"/>
          </a:xfrm>
          <a:prstGeom prst="rect">
            <a:avLst/>
          </a:prstGeom>
          <a:noFill/>
        </p:spPr>
        <p:txBody>
          <a:bodyPr wrap="none" lIns="18288" tIns="0" bIns="0">
            <a:spAutoFit/>
          </a:bodyPr>
          <a:lstStyle/>
          <a:p>
            <a:pPr algn="ctr">
              <a:spcBef>
                <a:spcPts val="0"/>
              </a:spcBef>
              <a:spcAft>
                <a:spcPts val="0"/>
              </a:spcAft>
            </a:pPr>
            <a:r>
              <a:rPr sz="1200" b="1">
                <a:solidFill>
                  <a:srgbClr val="3F4A5A"/>
                </a:solidFill>
                <a:latin typeface="Calibri"/>
              </a:rPr>
              <a:t>Diamond  Yes or no</a:t>
            </a:r>
          </a:p>
        </p:txBody>
      </p:sp>
      <p:sp>
        <p:nvSpPr>
          <p:cNvPr id="10" name="Data 9"/>
          <p:cNvSpPr/>
          <p:nvPr/>
        </p:nvSpPr>
        <p:spPr>
          <a:xfrm>
            <a:off x="7040880" y="896112"/>
            <a:ext cx="292608" cy="237744"/>
          </a:xfrm>
          <a:prstGeom prst="flowChartInputOutput">
            <a:avLst/>
          </a:prstGeom>
          <a:solidFill>
            <a:srgbClr val="EEF2FF"/>
          </a:solidFill>
          <a:ln w="22225">
            <a:solidFill>
              <a:srgbClr val="373AB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1" name="TextBox 10"/>
          <p:cNvSpPr txBox="1"/>
          <p:nvPr/>
        </p:nvSpPr>
        <p:spPr>
          <a:xfrm>
            <a:off x="7370064" y="896112"/>
            <a:ext cx="2011680" cy="219456"/>
          </a:xfrm>
          <a:prstGeom prst="rect">
            <a:avLst/>
          </a:prstGeom>
          <a:noFill/>
        </p:spPr>
        <p:txBody>
          <a:bodyPr wrap="none" lIns="18288" tIns="0" bIns="0">
            <a:spAutoFit/>
          </a:bodyPr>
          <a:lstStyle/>
          <a:p>
            <a:pPr algn="ctr">
              <a:spcBef>
                <a:spcPts val="0"/>
              </a:spcBef>
              <a:spcAft>
                <a:spcPts val="0"/>
              </a:spcAft>
            </a:pPr>
            <a:r>
              <a:rPr sz="1200" b="1">
                <a:solidFill>
                  <a:srgbClr val="3F4A5A"/>
                </a:solidFill>
                <a:latin typeface="Calibri"/>
              </a:rPr>
              <a:t>Slanted  Files you add</a:t>
            </a:r>
          </a:p>
        </p:txBody>
      </p:sp>
      <p:sp>
        <p:nvSpPr>
          <p:cNvPr id="12" name="Document 11"/>
          <p:cNvSpPr/>
          <p:nvPr/>
        </p:nvSpPr>
        <p:spPr>
          <a:xfrm>
            <a:off x="9464040" y="896112"/>
            <a:ext cx="292608" cy="237744"/>
          </a:xfrm>
          <a:prstGeom prst="flowChartDocument">
            <a:avLst/>
          </a:prstGeom>
          <a:solidFill>
            <a:srgbClr val="E5F6F4"/>
          </a:solidFill>
          <a:ln w="22225">
            <a:solidFill>
              <a:srgbClr val="0F6E6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3" name="TextBox 12"/>
          <p:cNvSpPr txBox="1"/>
          <p:nvPr/>
        </p:nvSpPr>
        <p:spPr>
          <a:xfrm>
            <a:off x="9793224" y="896112"/>
            <a:ext cx="2011680" cy="219456"/>
          </a:xfrm>
          <a:prstGeom prst="rect">
            <a:avLst/>
          </a:prstGeom>
          <a:noFill/>
        </p:spPr>
        <p:txBody>
          <a:bodyPr wrap="none" lIns="18288" tIns="0" bIns="0">
            <a:spAutoFit/>
          </a:bodyPr>
          <a:lstStyle/>
          <a:p>
            <a:pPr algn="ctr">
              <a:spcBef>
                <a:spcPts val="0"/>
              </a:spcBef>
              <a:spcAft>
                <a:spcPts val="0"/>
              </a:spcAft>
            </a:pPr>
            <a:r>
              <a:rPr sz="1200" b="1">
                <a:solidFill>
                  <a:srgbClr val="3F4A5A"/>
                </a:solidFill>
                <a:latin typeface="Calibri"/>
              </a:rPr>
              <a:t>Document  File produced</a:t>
            </a:r>
          </a:p>
        </p:txBody>
      </p:sp>
      <p:sp>
        <p:nvSpPr>
          <p:cNvPr id="14" name="Decision 13"/>
          <p:cNvSpPr/>
          <p:nvPr/>
        </p:nvSpPr>
        <p:spPr>
          <a:xfrm>
            <a:off x="4956048" y="1298448"/>
            <a:ext cx="2286000" cy="1051560"/>
          </a:xfrm>
          <a:prstGeom prst="flowChartDecision">
            <a:avLst/>
          </a:prstGeom>
          <a:solidFill>
            <a:srgbClr val="FFF4D4"/>
          </a:solidFill>
          <a:ln w="2222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Bef>
                <a:spcPts val="0"/>
              </a:spcBef>
              <a:spcAft>
                <a:spcPts val="0"/>
              </a:spcAft>
            </a:pPr>
            <a:r>
              <a:rPr sz="1500" b="1">
                <a:solidFill>
                  <a:srgbClr val="1C1917"/>
                </a:solidFill>
                <a:latin typeface="Calibri"/>
              </a:rPr>
              <a:t>Retype on?</a:t>
            </a:r>
          </a:p>
        </p:txBody>
      </p:sp>
      <p:sp>
        <p:nvSpPr>
          <p:cNvPr id="15" name="Process 14"/>
          <p:cNvSpPr/>
          <p:nvPr/>
        </p:nvSpPr>
        <p:spPr>
          <a:xfrm>
            <a:off x="292608" y="2505456"/>
            <a:ext cx="5669280" cy="914400"/>
          </a:xfrm>
          <a:prstGeom prst="flowChartProcess">
            <a:avLst/>
          </a:prstGeom>
          <a:solidFill>
            <a:srgbClr val="E5F6F4"/>
          </a:solidFill>
          <a:ln w="22225">
            <a:solidFill>
              <a:srgbClr val="0F6E6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Bef>
                <a:spcPts val="0"/>
              </a:spcBef>
              <a:spcAft>
                <a:spcPts val="0"/>
              </a:spcAft>
            </a:pPr>
            <a:r>
              <a:rPr sz="1200" b="1">
                <a:solidFill>
                  <a:srgbClr val="0F6E6B"/>
                </a:solidFill>
                <a:latin typeface="Calibri"/>
              </a:rPr>
              <a:t>Application</a:t>
            </a:r>
          </a:p>
          <a:p>
            <a:pPr algn="ctr">
              <a:spcBef>
                <a:spcPts val="0"/>
              </a:spcBef>
              <a:spcAft>
                <a:spcPts val="0"/>
              </a:spcAft>
            </a:pPr>
            <a:r>
              <a:rPr sz="1300" b="0">
                <a:solidFill>
                  <a:srgbClr val="1C1917"/>
                </a:solidFill>
                <a:latin typeface="Calibri"/>
              </a:rPr>
              <a:t>Rewrite the cover day, the HCE %, and off-calendar 402(g) dates where that text is found</a:t>
            </a:r>
          </a:p>
        </p:txBody>
      </p:sp>
      <p:sp>
        <p:nvSpPr>
          <p:cNvPr id="16" name="Process 15"/>
          <p:cNvSpPr/>
          <p:nvPr/>
        </p:nvSpPr>
        <p:spPr>
          <a:xfrm>
            <a:off x="6236208" y="2505456"/>
            <a:ext cx="5650992" cy="914400"/>
          </a:xfrm>
          <a:prstGeom prst="flowChartProcess">
            <a:avLst/>
          </a:prstGeom>
          <a:solidFill>
            <a:srgbClr val="E5F6F4"/>
          </a:solidFill>
          <a:ln w="22225">
            <a:solidFill>
              <a:srgbClr val="0F6E6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Bef>
                <a:spcPts val="0"/>
              </a:spcBef>
              <a:spcAft>
                <a:spcPts val="0"/>
              </a:spcAft>
            </a:pPr>
            <a:r>
              <a:rPr sz="1200" b="1">
                <a:solidFill>
                  <a:srgbClr val="0F6E6B"/>
                </a:solidFill>
                <a:latin typeface="Calibri"/>
              </a:rPr>
              <a:t>Application</a:t>
            </a:r>
          </a:p>
          <a:p>
            <a:pPr algn="ctr">
              <a:spcBef>
                <a:spcPts val="0"/>
              </a:spcBef>
              <a:spcAft>
                <a:spcPts val="0"/>
              </a:spcAft>
            </a:pPr>
            <a:r>
              <a:rPr sz="1300" b="0">
                <a:solidFill>
                  <a:srgbClr val="1C1917"/>
                </a:solidFill>
                <a:latin typeface="Calibri"/>
              </a:rPr>
              <a:t>Leave dates and percentages as printed. This is the default.</a:t>
            </a:r>
          </a:p>
        </p:txBody>
      </p:sp>
      <p:cxnSp>
        <p:nvCxnSpPr>
          <p:cNvPr id="17" name="Connector 16"/>
          <p:cNvCxnSpPr/>
          <p:nvPr/>
        </p:nvCxnSpPr>
        <p:spPr>
          <a:xfrm flipH="1">
            <a:off x="4374489" y="2350008"/>
            <a:ext cx="1221639" cy="155448"/>
          </a:xfrm>
          <a:prstGeom prst="line">
            <a:avLst/>
          </a:prstGeom>
          <a:ln w="22225">
            <a:solidFill>
              <a:srgbClr val="3F4A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601968" y="2350008"/>
            <a:ext cx="1216517" cy="155448"/>
          </a:xfrm>
          <a:prstGeom prst="line">
            <a:avLst/>
          </a:prstGeom>
          <a:ln w="22225">
            <a:solidFill>
              <a:srgbClr val="3F4A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29768" y="2267712"/>
            <a:ext cx="457200" cy="219456"/>
          </a:xfrm>
          <a:prstGeom prst="rect">
            <a:avLst/>
          </a:prstGeom>
          <a:noFill/>
        </p:spPr>
        <p:txBody>
          <a:bodyPr wrap="none" lIns="18288" tIns="0" bIns="0">
            <a:spAutoFit/>
          </a:bodyPr>
          <a:lstStyle/>
          <a:p>
            <a:pPr algn="ctr">
              <a:spcBef>
                <a:spcPts val="0"/>
              </a:spcBef>
              <a:spcAft>
                <a:spcPts val="0"/>
              </a:spcAft>
            </a:pPr>
            <a:r>
              <a:rPr sz="1200" b="1">
                <a:solidFill>
                  <a:srgbClr val="145C38"/>
                </a:solidFill>
                <a:latin typeface="Calibri"/>
              </a:rPr>
              <a:t>Yes</a:t>
            </a:r>
          </a:p>
        </p:txBody>
      </p:sp>
      <p:sp>
        <p:nvSpPr>
          <p:cNvPr id="20" name="TextBox 19"/>
          <p:cNvSpPr txBox="1"/>
          <p:nvPr/>
        </p:nvSpPr>
        <p:spPr>
          <a:xfrm>
            <a:off x="11338560" y="2267712"/>
            <a:ext cx="411480" cy="219456"/>
          </a:xfrm>
          <a:prstGeom prst="rect">
            <a:avLst/>
          </a:prstGeom>
          <a:noFill/>
        </p:spPr>
        <p:txBody>
          <a:bodyPr wrap="none" lIns="18288" tIns="0" bIns="0">
            <a:spAutoFit/>
          </a:bodyPr>
          <a:lstStyle/>
          <a:p>
            <a:pPr algn="ctr">
              <a:spcBef>
                <a:spcPts val="0"/>
              </a:spcBef>
              <a:spcAft>
                <a:spcPts val="0"/>
              </a:spcAft>
            </a:pPr>
            <a:r>
              <a:rPr sz="1200" b="1">
                <a:solidFill>
                  <a:srgbClr val="9A3412"/>
                </a:solidFill>
                <a:latin typeface="Calibri"/>
              </a:rPr>
              <a:t>No</a:t>
            </a:r>
          </a:p>
        </p:txBody>
      </p:sp>
      <p:sp>
        <p:nvSpPr>
          <p:cNvPr id="21" name="Process 20"/>
          <p:cNvSpPr/>
          <p:nvPr/>
        </p:nvSpPr>
        <p:spPr>
          <a:xfrm>
            <a:off x="3017520" y="3657600"/>
            <a:ext cx="6126480" cy="566928"/>
          </a:xfrm>
          <a:prstGeom prst="flowChartProcess">
            <a:avLst/>
          </a:prstGeom>
          <a:solidFill>
            <a:srgbClr val="E7F0FB"/>
          </a:solidFill>
          <a:ln w="22225">
            <a:solidFill>
              <a:srgbClr val="1D4E8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Bef>
                <a:spcPts val="0"/>
              </a:spcBef>
              <a:spcAft>
                <a:spcPts val="0"/>
              </a:spcAft>
            </a:pPr>
            <a:r>
              <a:rPr sz="1200" b="1">
                <a:solidFill>
                  <a:srgbClr val="1D4E89"/>
                </a:solidFill>
                <a:latin typeface="Calibri"/>
              </a:rPr>
              <a:t>You</a:t>
            </a:r>
          </a:p>
          <a:p>
            <a:pPr algn="ctr">
              <a:spcBef>
                <a:spcPts val="0"/>
              </a:spcBef>
              <a:spcAft>
                <a:spcPts val="0"/>
              </a:spcAft>
            </a:pPr>
            <a:r>
              <a:rPr sz="1600" b="1">
                <a:solidFill>
                  <a:srgbClr val="1C1917"/>
                </a:solidFill>
                <a:latin typeface="Calibri"/>
              </a:rPr>
              <a:t>Click Process package</a:t>
            </a:r>
          </a:p>
        </p:txBody>
      </p:sp>
      <p:cxnSp>
        <p:nvCxnSpPr>
          <p:cNvPr id="22" name="Connector 21"/>
          <p:cNvCxnSpPr/>
          <p:nvPr/>
        </p:nvCxnSpPr>
        <p:spPr>
          <a:xfrm>
            <a:off x="3127248" y="3429000"/>
            <a:ext cx="0" cy="219456"/>
          </a:xfrm>
          <a:prstGeom prst="line">
            <a:avLst/>
          </a:prstGeom>
          <a:ln w="22225">
            <a:solidFill>
              <a:srgbClr val="3F4A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9061704" y="3429000"/>
            <a:ext cx="0" cy="219456"/>
          </a:xfrm>
          <a:prstGeom prst="line">
            <a:avLst/>
          </a:prstGeom>
          <a:ln w="22225">
            <a:solidFill>
              <a:srgbClr val="3F4A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Process 23"/>
          <p:cNvSpPr/>
          <p:nvPr/>
        </p:nvSpPr>
        <p:spPr>
          <a:xfrm>
            <a:off x="320040" y="4480560"/>
            <a:ext cx="5577840" cy="777240"/>
          </a:xfrm>
          <a:prstGeom prst="flowChartProcess">
            <a:avLst/>
          </a:prstGeom>
          <a:solidFill>
            <a:srgbClr val="E5F6F4"/>
          </a:solidFill>
          <a:ln w="22225">
            <a:solidFill>
              <a:srgbClr val="0F6E6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Bef>
                <a:spcPts val="0"/>
              </a:spcBef>
              <a:spcAft>
                <a:spcPts val="0"/>
              </a:spcAft>
            </a:pPr>
            <a:r>
              <a:rPr sz="1200" b="1">
                <a:solidFill>
                  <a:srgbClr val="0F6E6B"/>
                </a:solidFill>
                <a:latin typeface="Calibri"/>
              </a:rPr>
              <a:t>Application</a:t>
            </a:r>
          </a:p>
          <a:p>
            <a:pPr algn="ctr">
              <a:spcBef>
                <a:spcPts val="0"/>
              </a:spcBef>
              <a:spcAft>
                <a:spcPts val="0"/>
              </a:spcAft>
            </a:pPr>
            <a:r>
              <a:rPr sz="1400" b="0">
                <a:solidFill>
                  <a:srgbClr val="1C1917"/>
                </a:solidFill>
                <a:latin typeface="Calibri"/>
              </a:rPr>
              <a:t>Merge the selected pages into one PDF</a:t>
            </a:r>
          </a:p>
        </p:txBody>
      </p:sp>
      <p:sp>
        <p:nvSpPr>
          <p:cNvPr id="25" name="Process 24"/>
          <p:cNvSpPr/>
          <p:nvPr/>
        </p:nvSpPr>
        <p:spPr>
          <a:xfrm>
            <a:off x="6263640" y="4480560"/>
            <a:ext cx="5623560" cy="777240"/>
          </a:xfrm>
          <a:prstGeom prst="flowChartProcess">
            <a:avLst/>
          </a:prstGeom>
          <a:solidFill>
            <a:srgbClr val="E5F6F4"/>
          </a:solidFill>
          <a:ln w="22225">
            <a:solidFill>
              <a:srgbClr val="0F6E6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Bef>
                <a:spcPts val="0"/>
              </a:spcBef>
              <a:spcAft>
                <a:spcPts val="0"/>
              </a:spcAft>
            </a:pPr>
            <a:r>
              <a:rPr sz="1200" b="1">
                <a:solidFill>
                  <a:srgbClr val="0F6E6B"/>
                </a:solidFill>
                <a:latin typeface="Calibri"/>
              </a:rPr>
              <a:t>Application</a:t>
            </a:r>
          </a:p>
          <a:p>
            <a:pPr algn="ctr">
              <a:spcBef>
                <a:spcPts val="0"/>
              </a:spcBef>
              <a:spcAft>
                <a:spcPts val="0"/>
              </a:spcAft>
            </a:pPr>
            <a:r>
              <a:rPr sz="1300" b="0">
                <a:solidFill>
                  <a:srgbClr val="1C1917"/>
                </a:solidFill>
                <a:latin typeface="Calibri"/>
              </a:rPr>
              <a:t>Read plan number, names, year, CURRENT or PRIOR, pass or fail, and amounts</a:t>
            </a:r>
          </a:p>
        </p:txBody>
      </p:sp>
      <p:cxnSp>
        <p:nvCxnSpPr>
          <p:cNvPr id="26" name="Connector 25"/>
          <p:cNvCxnSpPr/>
          <p:nvPr/>
        </p:nvCxnSpPr>
        <p:spPr>
          <a:xfrm>
            <a:off x="5916167" y="4869180"/>
            <a:ext cx="329185" cy="0"/>
          </a:xfrm>
          <a:prstGeom prst="line">
            <a:avLst/>
          </a:prstGeom>
          <a:ln w="22225">
            <a:solidFill>
              <a:srgbClr val="3F4A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6080760" y="4224528"/>
            <a:ext cx="0" cy="128016"/>
          </a:xfrm>
          <a:prstGeom prst="line">
            <a:avLst/>
          </a:prstGeom>
          <a:ln w="22225">
            <a:solidFill>
              <a:srgbClr val="3F4A5A"/>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3108960" y="4352544"/>
            <a:ext cx="2971800" cy="0"/>
          </a:xfrm>
          <a:prstGeom prst="line">
            <a:avLst/>
          </a:prstGeom>
          <a:ln w="22225">
            <a:solidFill>
              <a:srgbClr val="3F4A5A"/>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3108960" y="4352544"/>
            <a:ext cx="0" cy="128016"/>
          </a:xfrm>
          <a:prstGeom prst="line">
            <a:avLst/>
          </a:prstGeom>
          <a:ln w="22225">
            <a:solidFill>
              <a:srgbClr val="3F4A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320040" y="5532120"/>
            <a:ext cx="11521440" cy="1005840"/>
          </a:xfrm>
          <a:prstGeom prst="roundRect">
            <a:avLst/>
          </a:prstGeom>
          <a:solidFill>
            <a:srgbClr val="FFFBF0"/>
          </a:solidFill>
          <a:ln w="22225">
            <a:solidFill>
              <a:srgbClr val="A1620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Bef>
                <a:spcPts val="0"/>
              </a:spcBef>
              <a:spcAft>
                <a:spcPts val="0"/>
              </a:spcAft>
            </a:pPr>
            <a:r>
              <a:rPr sz="1600" b="1">
                <a:solidFill>
                  <a:srgbClr val="9A3412"/>
                </a:solidFill>
                <a:latin typeface="Calibri"/>
              </a:rPr>
              <a:t>Next page — the checks</a:t>
            </a:r>
          </a:p>
          <a:p>
            <a:pPr algn="ctr">
              <a:spcBef>
                <a:spcPts val="0"/>
              </a:spcBef>
              <a:spcAft>
                <a:spcPts val="0"/>
              </a:spcAft>
            </a:pPr>
            <a:r>
              <a:rPr sz="1400" b="0">
                <a:solidFill>
                  <a:srgbClr val="1C1917"/>
                </a:solidFill>
                <a:latin typeface="Calibri"/>
              </a:rPr>
              <a:t>Cover letter, Action Required, ADP and ACP, 402(g), 415, Excess Summary, Year End Recap, then bookmarks.</a:t>
            </a:r>
          </a:p>
        </p:txBody>
      </p:sp>
      <p:cxnSp>
        <p:nvCxnSpPr>
          <p:cNvPr id="31" name="Connector 30"/>
          <p:cNvCxnSpPr/>
          <p:nvPr/>
        </p:nvCxnSpPr>
        <p:spPr>
          <a:xfrm>
            <a:off x="9075420" y="5266944"/>
            <a:ext cx="0" cy="256032"/>
          </a:xfrm>
          <a:prstGeom prst="line">
            <a:avLst/>
          </a:prstGeom>
          <a:ln w="22225">
            <a:solidFill>
              <a:srgbClr val="3F4A5A"/>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6E6B"/>
          </a:solidFill>
          <a:ln w="22225">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46304"/>
            <a:ext cx="11521440" cy="658368"/>
          </a:xfrm>
          <a:prstGeom prst="rect">
            <a:avLst/>
          </a:prstGeom>
          <a:noFill/>
        </p:spPr>
        <p:txBody>
          <a:bodyPr wrap="none">
            <a:spAutoFit/>
          </a:bodyPr>
          <a:lstStyle/>
          <a:p>
            <a:pPr algn="l">
              <a:spcBef>
                <a:spcPts val="0"/>
              </a:spcBef>
              <a:spcAft>
                <a:spcPts val="0"/>
              </a:spcAft>
            </a:pPr>
            <a:r>
              <a:rPr sz="2600" b="1">
                <a:solidFill>
                  <a:srgbClr val="1E3A5F"/>
                </a:solidFill>
                <a:latin typeface="Calibri"/>
              </a:rPr>
              <a:t>Checks the application runs</a:t>
            </a:r>
          </a:p>
          <a:p>
            <a:pPr algn="l">
              <a:spcBef>
                <a:spcPts val="0"/>
              </a:spcBef>
              <a:spcAft>
                <a:spcPts val="0"/>
              </a:spcAft>
            </a:pPr>
            <a:r>
              <a:rPr sz="1400" b="0">
                <a:solidFill>
                  <a:srgbClr val="3F4A5A"/>
                </a:solidFill>
                <a:latin typeface="Calibri"/>
              </a:rPr>
              <a:t>Page 3 of 4   ·   Each box is a keep, remove, or fill step. It uses the plan facts from page 2.</a:t>
            </a:r>
          </a:p>
        </p:txBody>
      </p:sp>
      <p:sp>
        <p:nvSpPr>
          <p:cNvPr id="4" name="Terminator 3"/>
          <p:cNvSpPr/>
          <p:nvPr/>
        </p:nvSpPr>
        <p:spPr>
          <a:xfrm>
            <a:off x="320040" y="896112"/>
            <a:ext cx="292608" cy="237744"/>
          </a:xfrm>
          <a:prstGeom prst="flowChartTerminator">
            <a:avLst/>
          </a:prstGeom>
          <a:solidFill>
            <a:srgbClr val="1B7A4A"/>
          </a:solidFill>
          <a:ln w="22225">
            <a:solidFill>
              <a:srgbClr val="145C38"/>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5" name="TextBox 4"/>
          <p:cNvSpPr txBox="1"/>
          <p:nvPr/>
        </p:nvSpPr>
        <p:spPr>
          <a:xfrm>
            <a:off x="649224" y="896112"/>
            <a:ext cx="2011680" cy="219456"/>
          </a:xfrm>
          <a:prstGeom prst="rect">
            <a:avLst/>
          </a:prstGeom>
          <a:noFill/>
        </p:spPr>
        <p:txBody>
          <a:bodyPr wrap="none" lIns="18288" tIns="0" bIns="0">
            <a:spAutoFit/>
          </a:bodyPr>
          <a:lstStyle/>
          <a:p>
            <a:pPr algn="ctr">
              <a:spcBef>
                <a:spcPts val="0"/>
              </a:spcBef>
              <a:spcAft>
                <a:spcPts val="0"/>
              </a:spcAft>
            </a:pPr>
            <a:r>
              <a:rPr sz="1200" b="1">
                <a:solidFill>
                  <a:srgbClr val="3F4A5A"/>
                </a:solidFill>
                <a:latin typeface="Calibri"/>
              </a:rPr>
              <a:t>Oval  Start or end</a:t>
            </a:r>
          </a:p>
        </p:txBody>
      </p:sp>
      <p:sp>
        <p:nvSpPr>
          <p:cNvPr id="6" name="Process 5"/>
          <p:cNvSpPr/>
          <p:nvPr/>
        </p:nvSpPr>
        <p:spPr>
          <a:xfrm>
            <a:off x="2468880" y="896112"/>
            <a:ext cx="292608" cy="237744"/>
          </a:xfrm>
          <a:prstGeom prst="flowChartProcess">
            <a:avLst/>
          </a:prstGeom>
          <a:solidFill>
            <a:srgbClr val="E7F0FB"/>
          </a:solidFill>
          <a:ln w="22225">
            <a:solidFill>
              <a:srgbClr val="1D4E8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7" name="TextBox 6"/>
          <p:cNvSpPr txBox="1"/>
          <p:nvPr/>
        </p:nvSpPr>
        <p:spPr>
          <a:xfrm>
            <a:off x="2798064" y="896112"/>
            <a:ext cx="2011680" cy="219456"/>
          </a:xfrm>
          <a:prstGeom prst="rect">
            <a:avLst/>
          </a:prstGeom>
          <a:noFill/>
        </p:spPr>
        <p:txBody>
          <a:bodyPr wrap="none" lIns="18288" tIns="0" bIns="0">
            <a:spAutoFit/>
          </a:bodyPr>
          <a:lstStyle/>
          <a:p>
            <a:pPr algn="ctr">
              <a:spcBef>
                <a:spcPts val="0"/>
              </a:spcBef>
              <a:spcAft>
                <a:spcPts val="0"/>
              </a:spcAft>
            </a:pPr>
            <a:r>
              <a:rPr sz="1200" b="1">
                <a:solidFill>
                  <a:srgbClr val="3F4A5A"/>
                </a:solidFill>
                <a:latin typeface="Calibri"/>
              </a:rPr>
              <a:t>Rectangle  A step</a:t>
            </a:r>
          </a:p>
        </p:txBody>
      </p:sp>
      <p:sp>
        <p:nvSpPr>
          <p:cNvPr id="8" name="Decision 7"/>
          <p:cNvSpPr/>
          <p:nvPr/>
        </p:nvSpPr>
        <p:spPr>
          <a:xfrm>
            <a:off x="4709160" y="896112"/>
            <a:ext cx="292608" cy="237744"/>
          </a:xfrm>
          <a:prstGeom prst="flowChartDecision">
            <a:avLst/>
          </a:prstGeom>
          <a:solidFill>
            <a:srgbClr val="FFF4D4"/>
          </a:solidFill>
          <a:ln w="2222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9" name="TextBox 8"/>
          <p:cNvSpPr txBox="1"/>
          <p:nvPr/>
        </p:nvSpPr>
        <p:spPr>
          <a:xfrm>
            <a:off x="5038344" y="896112"/>
            <a:ext cx="2011680" cy="219456"/>
          </a:xfrm>
          <a:prstGeom prst="rect">
            <a:avLst/>
          </a:prstGeom>
          <a:noFill/>
        </p:spPr>
        <p:txBody>
          <a:bodyPr wrap="none" lIns="18288" tIns="0" bIns="0">
            <a:spAutoFit/>
          </a:bodyPr>
          <a:lstStyle/>
          <a:p>
            <a:pPr algn="ctr">
              <a:spcBef>
                <a:spcPts val="0"/>
              </a:spcBef>
              <a:spcAft>
                <a:spcPts val="0"/>
              </a:spcAft>
            </a:pPr>
            <a:r>
              <a:rPr sz="1200" b="1">
                <a:solidFill>
                  <a:srgbClr val="3F4A5A"/>
                </a:solidFill>
                <a:latin typeface="Calibri"/>
              </a:rPr>
              <a:t>Diamond  Yes or no</a:t>
            </a:r>
          </a:p>
        </p:txBody>
      </p:sp>
      <p:sp>
        <p:nvSpPr>
          <p:cNvPr id="10" name="Data 9"/>
          <p:cNvSpPr/>
          <p:nvPr/>
        </p:nvSpPr>
        <p:spPr>
          <a:xfrm>
            <a:off x="7040880" y="896112"/>
            <a:ext cx="292608" cy="237744"/>
          </a:xfrm>
          <a:prstGeom prst="flowChartInputOutput">
            <a:avLst/>
          </a:prstGeom>
          <a:solidFill>
            <a:srgbClr val="EEF2FF"/>
          </a:solidFill>
          <a:ln w="22225">
            <a:solidFill>
              <a:srgbClr val="373AB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1" name="TextBox 10"/>
          <p:cNvSpPr txBox="1"/>
          <p:nvPr/>
        </p:nvSpPr>
        <p:spPr>
          <a:xfrm>
            <a:off x="7370064" y="896112"/>
            <a:ext cx="2011680" cy="219456"/>
          </a:xfrm>
          <a:prstGeom prst="rect">
            <a:avLst/>
          </a:prstGeom>
          <a:noFill/>
        </p:spPr>
        <p:txBody>
          <a:bodyPr wrap="none" lIns="18288" tIns="0" bIns="0">
            <a:spAutoFit/>
          </a:bodyPr>
          <a:lstStyle/>
          <a:p>
            <a:pPr algn="ctr">
              <a:spcBef>
                <a:spcPts val="0"/>
              </a:spcBef>
              <a:spcAft>
                <a:spcPts val="0"/>
              </a:spcAft>
            </a:pPr>
            <a:r>
              <a:rPr sz="1200" b="1">
                <a:solidFill>
                  <a:srgbClr val="3F4A5A"/>
                </a:solidFill>
                <a:latin typeface="Calibri"/>
              </a:rPr>
              <a:t>Slanted  Files you add</a:t>
            </a:r>
          </a:p>
        </p:txBody>
      </p:sp>
      <p:sp>
        <p:nvSpPr>
          <p:cNvPr id="12" name="Document 11"/>
          <p:cNvSpPr/>
          <p:nvPr/>
        </p:nvSpPr>
        <p:spPr>
          <a:xfrm>
            <a:off x="9464040" y="896112"/>
            <a:ext cx="292608" cy="237744"/>
          </a:xfrm>
          <a:prstGeom prst="flowChartDocument">
            <a:avLst/>
          </a:prstGeom>
          <a:solidFill>
            <a:srgbClr val="E5F6F4"/>
          </a:solidFill>
          <a:ln w="22225">
            <a:solidFill>
              <a:srgbClr val="0F6E6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3" name="TextBox 12"/>
          <p:cNvSpPr txBox="1"/>
          <p:nvPr/>
        </p:nvSpPr>
        <p:spPr>
          <a:xfrm>
            <a:off x="9793224" y="896112"/>
            <a:ext cx="2011680" cy="219456"/>
          </a:xfrm>
          <a:prstGeom prst="rect">
            <a:avLst/>
          </a:prstGeom>
          <a:noFill/>
        </p:spPr>
        <p:txBody>
          <a:bodyPr wrap="none" lIns="18288" tIns="0" bIns="0">
            <a:spAutoFit/>
          </a:bodyPr>
          <a:lstStyle/>
          <a:p>
            <a:pPr algn="ctr">
              <a:spcBef>
                <a:spcPts val="0"/>
              </a:spcBef>
              <a:spcAft>
                <a:spcPts val="0"/>
              </a:spcAft>
            </a:pPr>
            <a:r>
              <a:rPr sz="1200" b="1">
                <a:solidFill>
                  <a:srgbClr val="3F4A5A"/>
                </a:solidFill>
                <a:latin typeface="Calibri"/>
              </a:rPr>
              <a:t>Document  File produced</a:t>
            </a:r>
          </a:p>
        </p:txBody>
      </p:sp>
      <p:sp>
        <p:nvSpPr>
          <p:cNvPr id="14" name="Process 13"/>
          <p:cNvSpPr/>
          <p:nvPr/>
        </p:nvSpPr>
        <p:spPr>
          <a:xfrm>
            <a:off x="292608" y="1325880"/>
            <a:ext cx="5669280" cy="1097280"/>
          </a:xfrm>
          <a:prstGeom prst="flowChartProcess">
            <a:avLst/>
          </a:prstGeom>
          <a:solidFill>
            <a:srgbClr val="E5F6F4"/>
          </a:solidFill>
          <a:ln w="22225">
            <a:solidFill>
              <a:srgbClr val="0F6E6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Bef>
                <a:spcPts val="0"/>
              </a:spcBef>
              <a:spcAft>
                <a:spcPts val="0"/>
              </a:spcAft>
            </a:pPr>
            <a:r>
              <a:rPr sz="1500" b="1">
                <a:solidFill>
                  <a:srgbClr val="0F6E6B"/>
                </a:solidFill>
                <a:latin typeface="Calibri"/>
              </a:rPr>
              <a:t>Cover letter</a:t>
            </a:r>
          </a:p>
          <a:p>
            <a:pPr algn="ctr">
              <a:spcBef>
                <a:spcPts val="0"/>
              </a:spcBef>
              <a:spcAft>
                <a:spcPts val="0"/>
              </a:spcAft>
            </a:pPr>
            <a:r>
              <a:rPr sz="1300" b="0">
                <a:solidFill>
                  <a:srgbClr val="1C1917"/>
                </a:solidFill>
                <a:latin typeface="Calibri"/>
              </a:rPr>
              <a:t>Read company, address, plan name, and plan year end. Check that the Mutual of America stamp is present.</a:t>
            </a:r>
          </a:p>
        </p:txBody>
      </p:sp>
      <p:sp>
        <p:nvSpPr>
          <p:cNvPr id="15" name="Process 14"/>
          <p:cNvSpPr/>
          <p:nvPr/>
        </p:nvSpPr>
        <p:spPr>
          <a:xfrm>
            <a:off x="6236208" y="1325880"/>
            <a:ext cx="5650992" cy="1097280"/>
          </a:xfrm>
          <a:prstGeom prst="flowChartProcess">
            <a:avLst/>
          </a:prstGeom>
          <a:solidFill>
            <a:srgbClr val="E5F6F4"/>
          </a:solidFill>
          <a:ln w="22225">
            <a:solidFill>
              <a:srgbClr val="0F6E6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Bef>
                <a:spcPts val="0"/>
              </a:spcBef>
              <a:spcAft>
                <a:spcPts val="0"/>
              </a:spcAft>
            </a:pPr>
            <a:r>
              <a:rPr sz="1500" b="1">
                <a:solidFill>
                  <a:srgbClr val="0F6E6B"/>
                </a:solidFill>
                <a:latin typeface="Calibri"/>
              </a:rPr>
              <a:t>Action Required</a:t>
            </a:r>
          </a:p>
          <a:p>
            <a:pPr algn="ctr">
              <a:spcBef>
                <a:spcPts val="0"/>
              </a:spcBef>
              <a:spcAft>
                <a:spcPts val="0"/>
              </a:spcAft>
            </a:pPr>
            <a:r>
              <a:rPr sz="1300" b="0">
                <a:solidFill>
                  <a:srgbClr val="1C1917"/>
                </a:solidFill>
                <a:latin typeface="Calibri"/>
              </a:rPr>
              <a:t>Keep or remove each paragraph: compliance failure, PRIOR or CURRENT, after 12 months, top heavy at 60%, variance, and no action.</a:t>
            </a:r>
          </a:p>
        </p:txBody>
      </p:sp>
      <p:cxnSp>
        <p:nvCxnSpPr>
          <p:cNvPr id="16" name="Connector 15"/>
          <p:cNvCxnSpPr/>
          <p:nvPr/>
        </p:nvCxnSpPr>
        <p:spPr>
          <a:xfrm>
            <a:off x="5980176" y="1874519"/>
            <a:ext cx="237744" cy="0"/>
          </a:xfrm>
          <a:prstGeom prst="line">
            <a:avLst/>
          </a:prstGeom>
          <a:ln w="22225">
            <a:solidFill>
              <a:srgbClr val="3F4A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127248" y="2432303"/>
            <a:ext cx="0" cy="164593"/>
          </a:xfrm>
          <a:prstGeom prst="line">
            <a:avLst/>
          </a:prstGeom>
          <a:ln w="22225">
            <a:solidFill>
              <a:srgbClr val="3F4A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Process 17"/>
          <p:cNvSpPr/>
          <p:nvPr/>
        </p:nvSpPr>
        <p:spPr>
          <a:xfrm>
            <a:off x="292608" y="2606040"/>
            <a:ext cx="5669280" cy="1234440"/>
          </a:xfrm>
          <a:prstGeom prst="flowChartProcess">
            <a:avLst/>
          </a:prstGeom>
          <a:solidFill>
            <a:srgbClr val="E5F6F4"/>
          </a:solidFill>
          <a:ln w="22225">
            <a:solidFill>
              <a:srgbClr val="0F6E6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Bef>
                <a:spcPts val="0"/>
              </a:spcBef>
              <a:spcAft>
                <a:spcPts val="0"/>
              </a:spcAft>
            </a:pPr>
            <a:r>
              <a:rPr sz="1500" b="1">
                <a:solidFill>
                  <a:srgbClr val="0F6E6B"/>
                </a:solidFill>
                <a:latin typeface="Calibri"/>
              </a:rPr>
              <a:t>ADP and ACP tests</a:t>
            </a:r>
          </a:p>
          <a:p>
            <a:pPr algn="ctr">
              <a:spcBef>
                <a:spcPts val="0"/>
              </a:spcBef>
              <a:spcAft>
                <a:spcPts val="0"/>
              </a:spcAft>
            </a:pPr>
            <a:r>
              <a:rPr sz="1300" b="0">
                <a:solidFill>
                  <a:srgbClr val="1C1917"/>
                </a:solidFill>
                <a:latin typeface="Calibri"/>
              </a:rPr>
              <a:t>Keep the notice and each sample letter only if that test failed and returns are required. Fill the QNEC. Drop the unused ADP or ACP line. After 12 months, CURRENT keeps QNEC plus refunds. PRIOR keeps refunds only.</a:t>
            </a:r>
          </a:p>
        </p:txBody>
      </p:sp>
      <p:sp>
        <p:nvSpPr>
          <p:cNvPr id="19" name="Process 18"/>
          <p:cNvSpPr/>
          <p:nvPr/>
        </p:nvSpPr>
        <p:spPr>
          <a:xfrm>
            <a:off x="6236208" y="2606040"/>
            <a:ext cx="5650992" cy="1234440"/>
          </a:xfrm>
          <a:prstGeom prst="flowChartProcess">
            <a:avLst/>
          </a:prstGeom>
          <a:solidFill>
            <a:srgbClr val="E5F6F4"/>
          </a:solidFill>
          <a:ln w="22225">
            <a:solidFill>
              <a:srgbClr val="0F6E6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Bef>
                <a:spcPts val="0"/>
              </a:spcBef>
              <a:spcAft>
                <a:spcPts val="0"/>
              </a:spcAft>
            </a:pPr>
            <a:r>
              <a:rPr sz="1500" b="1">
                <a:solidFill>
                  <a:srgbClr val="0F6E6B"/>
                </a:solidFill>
                <a:latin typeface="Calibri"/>
              </a:rPr>
              <a:t>402(g) test</a:t>
            </a:r>
          </a:p>
          <a:p>
            <a:pPr algn="ctr">
              <a:spcBef>
                <a:spcPts val="0"/>
              </a:spcBef>
              <a:spcAft>
                <a:spcPts val="0"/>
              </a:spcAft>
            </a:pPr>
            <a:r>
              <a:rPr sz="1300" b="0">
                <a:solidFill>
                  <a:srgbClr val="1C1917"/>
                </a:solidFill>
                <a:latin typeface="Calibri"/>
              </a:rPr>
              <a:t>Remove the 402(g) letter if there are no returns, or the failure was not processed by 15 April.</a:t>
            </a:r>
          </a:p>
        </p:txBody>
      </p:sp>
      <p:cxnSp>
        <p:nvCxnSpPr>
          <p:cNvPr id="20" name="Connector 19"/>
          <p:cNvCxnSpPr/>
          <p:nvPr/>
        </p:nvCxnSpPr>
        <p:spPr>
          <a:xfrm>
            <a:off x="5980176" y="3223260"/>
            <a:ext cx="237744" cy="0"/>
          </a:xfrm>
          <a:prstGeom prst="line">
            <a:avLst/>
          </a:prstGeom>
          <a:ln w="22225">
            <a:solidFill>
              <a:srgbClr val="3F4A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127248" y="3849624"/>
            <a:ext cx="0" cy="164592"/>
          </a:xfrm>
          <a:prstGeom prst="line">
            <a:avLst/>
          </a:prstGeom>
          <a:ln w="22225">
            <a:solidFill>
              <a:srgbClr val="3F4A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Process 21"/>
          <p:cNvSpPr/>
          <p:nvPr/>
        </p:nvSpPr>
        <p:spPr>
          <a:xfrm>
            <a:off x="292608" y="4023360"/>
            <a:ext cx="5669280" cy="960120"/>
          </a:xfrm>
          <a:prstGeom prst="flowChartProcess">
            <a:avLst/>
          </a:prstGeom>
          <a:solidFill>
            <a:srgbClr val="E5F6F4"/>
          </a:solidFill>
          <a:ln w="22225">
            <a:solidFill>
              <a:srgbClr val="0F6E6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Bef>
                <a:spcPts val="0"/>
              </a:spcBef>
              <a:spcAft>
                <a:spcPts val="0"/>
              </a:spcAft>
            </a:pPr>
            <a:r>
              <a:rPr sz="1500" b="1">
                <a:solidFill>
                  <a:srgbClr val="0F6E6B"/>
                </a:solidFill>
                <a:latin typeface="Calibri"/>
              </a:rPr>
              <a:t>415 limit</a:t>
            </a:r>
          </a:p>
          <a:p>
            <a:pPr algn="ctr">
              <a:spcBef>
                <a:spcPts val="0"/>
              </a:spcBef>
              <a:spcAft>
                <a:spcPts val="0"/>
              </a:spcAft>
            </a:pPr>
            <a:r>
              <a:rPr sz="1300" b="0">
                <a:solidFill>
                  <a:srgbClr val="1C1917"/>
                </a:solidFill>
                <a:latin typeface="Calibri"/>
              </a:rPr>
              <a:t>Remove the 415 failure information and the 415 letter if the plan did not fail 415.</a:t>
            </a:r>
          </a:p>
        </p:txBody>
      </p:sp>
      <p:sp>
        <p:nvSpPr>
          <p:cNvPr id="23" name="Process 22"/>
          <p:cNvSpPr/>
          <p:nvPr/>
        </p:nvSpPr>
        <p:spPr>
          <a:xfrm>
            <a:off x="6236208" y="4023360"/>
            <a:ext cx="5650992" cy="960120"/>
          </a:xfrm>
          <a:prstGeom prst="flowChartProcess">
            <a:avLst/>
          </a:prstGeom>
          <a:solidFill>
            <a:srgbClr val="E5F6F4"/>
          </a:solidFill>
          <a:ln w="22225">
            <a:solidFill>
              <a:srgbClr val="0F6E6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Bef>
                <a:spcPts val="0"/>
              </a:spcBef>
              <a:spcAft>
                <a:spcPts val="0"/>
              </a:spcAft>
            </a:pPr>
            <a:r>
              <a:rPr sz="1500" b="1">
                <a:solidFill>
                  <a:srgbClr val="0F6E6B"/>
                </a:solidFill>
                <a:latin typeface="Calibri"/>
              </a:rPr>
              <a:t>Excess Summary</a:t>
            </a:r>
          </a:p>
          <a:p>
            <a:pPr algn="ctr">
              <a:spcBef>
                <a:spcPts val="0"/>
              </a:spcBef>
              <a:spcAft>
                <a:spcPts val="0"/>
              </a:spcAft>
            </a:pPr>
            <a:r>
              <a:rPr sz="1300" b="0">
                <a:solidFill>
                  <a:srgbClr val="1C1917"/>
                </a:solidFill>
                <a:latin typeface="Calibri"/>
              </a:rPr>
              <a:t>Keep it for a 402(g) or 415 failure, or for ADP/ACP when a participant is partially vested.</a:t>
            </a:r>
          </a:p>
        </p:txBody>
      </p:sp>
      <p:cxnSp>
        <p:nvCxnSpPr>
          <p:cNvPr id="24" name="Connector 23"/>
          <p:cNvCxnSpPr/>
          <p:nvPr/>
        </p:nvCxnSpPr>
        <p:spPr>
          <a:xfrm>
            <a:off x="5980176" y="4503420"/>
            <a:ext cx="237744" cy="0"/>
          </a:xfrm>
          <a:prstGeom prst="line">
            <a:avLst/>
          </a:prstGeom>
          <a:ln w="22225">
            <a:solidFill>
              <a:srgbClr val="3F4A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3127248" y="4992624"/>
            <a:ext cx="0" cy="164592"/>
          </a:xfrm>
          <a:prstGeom prst="line">
            <a:avLst/>
          </a:prstGeom>
          <a:ln w="22225">
            <a:solidFill>
              <a:srgbClr val="3F4A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Process 25"/>
          <p:cNvSpPr/>
          <p:nvPr/>
        </p:nvSpPr>
        <p:spPr>
          <a:xfrm>
            <a:off x="292608" y="5166360"/>
            <a:ext cx="5669280" cy="960120"/>
          </a:xfrm>
          <a:prstGeom prst="flowChartProcess">
            <a:avLst/>
          </a:prstGeom>
          <a:solidFill>
            <a:srgbClr val="E5F6F4"/>
          </a:solidFill>
          <a:ln w="22225">
            <a:solidFill>
              <a:srgbClr val="0F6E6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Bef>
                <a:spcPts val="0"/>
              </a:spcBef>
              <a:spcAft>
                <a:spcPts val="0"/>
              </a:spcAft>
            </a:pPr>
            <a:r>
              <a:rPr sz="1500" b="1">
                <a:solidFill>
                  <a:srgbClr val="0F6E6B"/>
                </a:solidFill>
                <a:latin typeface="Calibri"/>
              </a:rPr>
              <a:t>Year End Recap</a:t>
            </a:r>
          </a:p>
          <a:p>
            <a:pPr algn="ctr">
              <a:spcBef>
                <a:spcPts val="0"/>
              </a:spcBef>
              <a:spcAft>
                <a:spcPts val="0"/>
              </a:spcAft>
            </a:pPr>
            <a:r>
              <a:rPr sz="1300" b="0">
                <a:solidFill>
                  <a:srgbClr val="1C1917"/>
                </a:solidFill>
                <a:latin typeface="Calibri"/>
              </a:rPr>
              <a:t>Keep or remove bullets for HCE, Safe Harbor, top heavy, catch-up, and the match.</a:t>
            </a:r>
          </a:p>
        </p:txBody>
      </p:sp>
      <p:sp>
        <p:nvSpPr>
          <p:cNvPr id="27" name="Process 26"/>
          <p:cNvSpPr/>
          <p:nvPr/>
        </p:nvSpPr>
        <p:spPr>
          <a:xfrm>
            <a:off x="6236208" y="5166360"/>
            <a:ext cx="5650992" cy="960120"/>
          </a:xfrm>
          <a:prstGeom prst="flowChartProcess">
            <a:avLst/>
          </a:prstGeom>
          <a:solidFill>
            <a:srgbClr val="E5F6F4"/>
          </a:solidFill>
          <a:ln w="22225">
            <a:solidFill>
              <a:srgbClr val="0F6E6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Bef>
                <a:spcPts val="0"/>
              </a:spcBef>
              <a:spcAft>
                <a:spcPts val="0"/>
              </a:spcAft>
            </a:pPr>
            <a:r>
              <a:rPr sz="1500" b="1">
                <a:solidFill>
                  <a:srgbClr val="0F6E6B"/>
                </a:solidFill>
                <a:latin typeface="Calibri"/>
              </a:rPr>
              <a:t>Bookmarks</a:t>
            </a:r>
          </a:p>
          <a:p>
            <a:pPr algn="ctr">
              <a:spcBef>
                <a:spcPts val="0"/>
              </a:spcBef>
              <a:spcAft>
                <a:spcPts val="0"/>
              </a:spcAft>
            </a:pPr>
            <a:r>
              <a:rPr sz="1300" b="0">
                <a:solidFill>
                  <a:srgbClr val="1C1917"/>
                </a:solidFill>
                <a:latin typeface="Calibri"/>
              </a:rPr>
              <a:t>Add a bookmark for each section that remains, including ADP Test, ACP Test, and HCE on a 403(b).</a:t>
            </a:r>
          </a:p>
        </p:txBody>
      </p:sp>
      <p:cxnSp>
        <p:nvCxnSpPr>
          <p:cNvPr id="28" name="Connector 27"/>
          <p:cNvCxnSpPr/>
          <p:nvPr/>
        </p:nvCxnSpPr>
        <p:spPr>
          <a:xfrm>
            <a:off x="5980176" y="5646420"/>
            <a:ext cx="237744" cy="0"/>
          </a:xfrm>
          <a:prstGeom prst="line">
            <a:avLst/>
          </a:prstGeom>
          <a:ln w="22225">
            <a:solidFill>
              <a:srgbClr val="3F4A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7772400" y="6263640"/>
            <a:ext cx="4114800" cy="219456"/>
          </a:xfrm>
          <a:prstGeom prst="rect">
            <a:avLst/>
          </a:prstGeom>
          <a:noFill/>
        </p:spPr>
        <p:txBody>
          <a:bodyPr wrap="none" lIns="18288" tIns="0" bIns="0">
            <a:spAutoFit/>
          </a:bodyPr>
          <a:lstStyle/>
          <a:p>
            <a:pPr algn="ctr">
              <a:spcBef>
                <a:spcPts val="0"/>
              </a:spcBef>
              <a:spcAft>
                <a:spcPts val="0"/>
              </a:spcAft>
            </a:pPr>
            <a:r>
              <a:rPr sz="1200" b="1">
                <a:solidFill>
                  <a:srgbClr val="1E3A5F"/>
                </a:solidFill>
                <a:latin typeface="Calibri"/>
              </a:rPr>
              <a:t>Continued on page 4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6E6B"/>
          </a:solidFill>
          <a:ln w="22225">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46304"/>
            <a:ext cx="11521440" cy="658368"/>
          </a:xfrm>
          <a:prstGeom prst="rect">
            <a:avLst/>
          </a:prstGeom>
          <a:noFill/>
        </p:spPr>
        <p:txBody>
          <a:bodyPr wrap="none">
            <a:spAutoFit/>
          </a:bodyPr>
          <a:lstStyle/>
          <a:p>
            <a:pPr algn="l">
              <a:spcBef>
                <a:spcPts val="0"/>
              </a:spcBef>
              <a:spcAft>
                <a:spcPts val="0"/>
              </a:spcAft>
            </a:pPr>
            <a:r>
              <a:rPr sz="2600" b="1">
                <a:solidFill>
                  <a:srgbClr val="1E3A5F"/>
                </a:solidFill>
                <a:latin typeface="Calibri"/>
              </a:rPr>
              <a:t>Save, preview, and finish</a:t>
            </a:r>
          </a:p>
          <a:p>
            <a:pPr algn="l">
              <a:spcBef>
                <a:spcPts val="0"/>
              </a:spcBef>
              <a:spcAft>
                <a:spcPts val="0"/>
              </a:spcAft>
            </a:pPr>
            <a:r>
              <a:rPr sz="1400" b="0">
                <a:solidFill>
                  <a:srgbClr val="3F4A5A"/>
                </a:solidFill>
                <a:latin typeface="Calibri"/>
              </a:rPr>
              <a:t>Page 4 of 4   ·   Yellow marks stay in the preview only</a:t>
            </a:r>
          </a:p>
        </p:txBody>
      </p:sp>
      <p:sp>
        <p:nvSpPr>
          <p:cNvPr id="4" name="Terminator 3"/>
          <p:cNvSpPr/>
          <p:nvPr/>
        </p:nvSpPr>
        <p:spPr>
          <a:xfrm>
            <a:off x="320040" y="896112"/>
            <a:ext cx="292608" cy="237744"/>
          </a:xfrm>
          <a:prstGeom prst="flowChartTerminator">
            <a:avLst/>
          </a:prstGeom>
          <a:solidFill>
            <a:srgbClr val="1B7A4A"/>
          </a:solidFill>
          <a:ln w="22225">
            <a:solidFill>
              <a:srgbClr val="145C38"/>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5" name="TextBox 4"/>
          <p:cNvSpPr txBox="1"/>
          <p:nvPr/>
        </p:nvSpPr>
        <p:spPr>
          <a:xfrm>
            <a:off x="649224" y="896112"/>
            <a:ext cx="2011680" cy="219456"/>
          </a:xfrm>
          <a:prstGeom prst="rect">
            <a:avLst/>
          </a:prstGeom>
          <a:noFill/>
        </p:spPr>
        <p:txBody>
          <a:bodyPr wrap="none" lIns="18288" tIns="0" bIns="0">
            <a:spAutoFit/>
          </a:bodyPr>
          <a:lstStyle/>
          <a:p>
            <a:pPr algn="ctr">
              <a:spcBef>
                <a:spcPts val="0"/>
              </a:spcBef>
              <a:spcAft>
                <a:spcPts val="0"/>
              </a:spcAft>
            </a:pPr>
            <a:r>
              <a:rPr sz="1200" b="1">
                <a:solidFill>
                  <a:srgbClr val="3F4A5A"/>
                </a:solidFill>
                <a:latin typeface="Calibri"/>
              </a:rPr>
              <a:t>Oval  Start or end</a:t>
            </a:r>
          </a:p>
        </p:txBody>
      </p:sp>
      <p:sp>
        <p:nvSpPr>
          <p:cNvPr id="6" name="Process 5"/>
          <p:cNvSpPr/>
          <p:nvPr/>
        </p:nvSpPr>
        <p:spPr>
          <a:xfrm>
            <a:off x="2468880" y="896112"/>
            <a:ext cx="292608" cy="237744"/>
          </a:xfrm>
          <a:prstGeom prst="flowChartProcess">
            <a:avLst/>
          </a:prstGeom>
          <a:solidFill>
            <a:srgbClr val="E7F0FB"/>
          </a:solidFill>
          <a:ln w="22225">
            <a:solidFill>
              <a:srgbClr val="1D4E8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7" name="TextBox 6"/>
          <p:cNvSpPr txBox="1"/>
          <p:nvPr/>
        </p:nvSpPr>
        <p:spPr>
          <a:xfrm>
            <a:off x="2798064" y="896112"/>
            <a:ext cx="2011680" cy="219456"/>
          </a:xfrm>
          <a:prstGeom prst="rect">
            <a:avLst/>
          </a:prstGeom>
          <a:noFill/>
        </p:spPr>
        <p:txBody>
          <a:bodyPr wrap="none" lIns="18288" tIns="0" bIns="0">
            <a:spAutoFit/>
          </a:bodyPr>
          <a:lstStyle/>
          <a:p>
            <a:pPr algn="ctr">
              <a:spcBef>
                <a:spcPts val="0"/>
              </a:spcBef>
              <a:spcAft>
                <a:spcPts val="0"/>
              </a:spcAft>
            </a:pPr>
            <a:r>
              <a:rPr sz="1200" b="1">
                <a:solidFill>
                  <a:srgbClr val="3F4A5A"/>
                </a:solidFill>
                <a:latin typeface="Calibri"/>
              </a:rPr>
              <a:t>Rectangle  A step</a:t>
            </a:r>
          </a:p>
        </p:txBody>
      </p:sp>
      <p:sp>
        <p:nvSpPr>
          <p:cNvPr id="8" name="Decision 7"/>
          <p:cNvSpPr/>
          <p:nvPr/>
        </p:nvSpPr>
        <p:spPr>
          <a:xfrm>
            <a:off x="4709160" y="896112"/>
            <a:ext cx="292608" cy="237744"/>
          </a:xfrm>
          <a:prstGeom prst="flowChartDecision">
            <a:avLst/>
          </a:prstGeom>
          <a:solidFill>
            <a:srgbClr val="FFF4D4"/>
          </a:solidFill>
          <a:ln w="2222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9" name="TextBox 8"/>
          <p:cNvSpPr txBox="1"/>
          <p:nvPr/>
        </p:nvSpPr>
        <p:spPr>
          <a:xfrm>
            <a:off x="5038344" y="896112"/>
            <a:ext cx="2011680" cy="219456"/>
          </a:xfrm>
          <a:prstGeom prst="rect">
            <a:avLst/>
          </a:prstGeom>
          <a:noFill/>
        </p:spPr>
        <p:txBody>
          <a:bodyPr wrap="none" lIns="18288" tIns="0" bIns="0">
            <a:spAutoFit/>
          </a:bodyPr>
          <a:lstStyle/>
          <a:p>
            <a:pPr algn="ctr">
              <a:spcBef>
                <a:spcPts val="0"/>
              </a:spcBef>
              <a:spcAft>
                <a:spcPts val="0"/>
              </a:spcAft>
            </a:pPr>
            <a:r>
              <a:rPr sz="1200" b="1">
                <a:solidFill>
                  <a:srgbClr val="3F4A5A"/>
                </a:solidFill>
                <a:latin typeface="Calibri"/>
              </a:rPr>
              <a:t>Diamond  Yes or no</a:t>
            </a:r>
          </a:p>
        </p:txBody>
      </p:sp>
      <p:sp>
        <p:nvSpPr>
          <p:cNvPr id="10" name="Data 9"/>
          <p:cNvSpPr/>
          <p:nvPr/>
        </p:nvSpPr>
        <p:spPr>
          <a:xfrm>
            <a:off x="7040880" y="896112"/>
            <a:ext cx="292608" cy="237744"/>
          </a:xfrm>
          <a:prstGeom prst="flowChartInputOutput">
            <a:avLst/>
          </a:prstGeom>
          <a:solidFill>
            <a:srgbClr val="EEF2FF"/>
          </a:solidFill>
          <a:ln w="22225">
            <a:solidFill>
              <a:srgbClr val="373AB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1" name="TextBox 10"/>
          <p:cNvSpPr txBox="1"/>
          <p:nvPr/>
        </p:nvSpPr>
        <p:spPr>
          <a:xfrm>
            <a:off x="7370064" y="896112"/>
            <a:ext cx="2011680" cy="219456"/>
          </a:xfrm>
          <a:prstGeom prst="rect">
            <a:avLst/>
          </a:prstGeom>
          <a:noFill/>
        </p:spPr>
        <p:txBody>
          <a:bodyPr wrap="none" lIns="18288" tIns="0" bIns="0">
            <a:spAutoFit/>
          </a:bodyPr>
          <a:lstStyle/>
          <a:p>
            <a:pPr algn="ctr">
              <a:spcBef>
                <a:spcPts val="0"/>
              </a:spcBef>
              <a:spcAft>
                <a:spcPts val="0"/>
              </a:spcAft>
            </a:pPr>
            <a:r>
              <a:rPr sz="1200" b="1">
                <a:solidFill>
                  <a:srgbClr val="3F4A5A"/>
                </a:solidFill>
                <a:latin typeface="Calibri"/>
              </a:rPr>
              <a:t>Slanted  Files you add</a:t>
            </a:r>
          </a:p>
        </p:txBody>
      </p:sp>
      <p:sp>
        <p:nvSpPr>
          <p:cNvPr id="12" name="Document 11"/>
          <p:cNvSpPr/>
          <p:nvPr/>
        </p:nvSpPr>
        <p:spPr>
          <a:xfrm>
            <a:off x="9464040" y="896112"/>
            <a:ext cx="292608" cy="237744"/>
          </a:xfrm>
          <a:prstGeom prst="flowChartDocument">
            <a:avLst/>
          </a:prstGeom>
          <a:solidFill>
            <a:srgbClr val="E5F6F4"/>
          </a:solidFill>
          <a:ln w="22225">
            <a:solidFill>
              <a:srgbClr val="0F6E6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3" name="TextBox 12"/>
          <p:cNvSpPr txBox="1"/>
          <p:nvPr/>
        </p:nvSpPr>
        <p:spPr>
          <a:xfrm>
            <a:off x="9793224" y="896112"/>
            <a:ext cx="2011680" cy="219456"/>
          </a:xfrm>
          <a:prstGeom prst="rect">
            <a:avLst/>
          </a:prstGeom>
          <a:noFill/>
        </p:spPr>
        <p:txBody>
          <a:bodyPr wrap="none" lIns="18288" tIns="0" bIns="0">
            <a:spAutoFit/>
          </a:bodyPr>
          <a:lstStyle/>
          <a:p>
            <a:pPr algn="ctr">
              <a:spcBef>
                <a:spcPts val="0"/>
              </a:spcBef>
              <a:spcAft>
                <a:spcPts val="0"/>
              </a:spcAft>
            </a:pPr>
            <a:r>
              <a:rPr sz="1200" b="1">
                <a:solidFill>
                  <a:srgbClr val="3F4A5A"/>
                </a:solidFill>
                <a:latin typeface="Calibri"/>
              </a:rPr>
              <a:t>Document  File produced</a:t>
            </a:r>
          </a:p>
        </p:txBody>
      </p:sp>
      <p:sp>
        <p:nvSpPr>
          <p:cNvPr id="14" name="Document 13"/>
          <p:cNvSpPr/>
          <p:nvPr/>
        </p:nvSpPr>
        <p:spPr>
          <a:xfrm>
            <a:off x="1645920" y="1298448"/>
            <a:ext cx="8869680" cy="658368"/>
          </a:xfrm>
          <a:prstGeom prst="flowChartDocument">
            <a:avLst/>
          </a:prstGeom>
          <a:solidFill>
            <a:srgbClr val="E5F6F4"/>
          </a:solidFill>
          <a:ln w="22225">
            <a:solidFill>
              <a:srgbClr val="0F6E6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Bef>
                <a:spcPts val="0"/>
              </a:spcBef>
              <a:spcAft>
                <a:spcPts val="0"/>
              </a:spcAft>
            </a:pPr>
            <a:r>
              <a:rPr sz="1200" b="1">
                <a:solidFill>
                  <a:srgbClr val="0F6E6B"/>
                </a:solidFill>
                <a:latin typeface="Calibri"/>
              </a:rPr>
              <a:t>Application</a:t>
            </a:r>
          </a:p>
          <a:p>
            <a:pPr algn="ctr">
              <a:spcBef>
                <a:spcPts val="0"/>
              </a:spcBef>
              <a:spcAft>
                <a:spcPts val="0"/>
              </a:spcAft>
            </a:pPr>
            <a:r>
              <a:rPr sz="1400" b="0">
                <a:solidFill>
                  <a:srgbClr val="1C1917"/>
                </a:solidFill>
                <a:latin typeface="Calibri"/>
              </a:rPr>
              <a:t>Save PlanNumber_BeginningYear-Valuation.pdf, an Outlook draft, and a log row</a:t>
            </a:r>
          </a:p>
        </p:txBody>
      </p:sp>
      <p:sp>
        <p:nvSpPr>
          <p:cNvPr id="15" name="Decision 14"/>
          <p:cNvSpPr/>
          <p:nvPr/>
        </p:nvSpPr>
        <p:spPr>
          <a:xfrm>
            <a:off x="4956048" y="2103120"/>
            <a:ext cx="2286000" cy="1051560"/>
          </a:xfrm>
          <a:prstGeom prst="flowChartDecision">
            <a:avLst/>
          </a:prstGeom>
          <a:solidFill>
            <a:srgbClr val="FFF4D4"/>
          </a:solidFill>
          <a:ln w="2222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Bef>
                <a:spcPts val="0"/>
              </a:spcBef>
              <a:spcAft>
                <a:spcPts val="0"/>
              </a:spcAft>
            </a:pPr>
            <a:r>
              <a:rPr sz="1500" b="1">
                <a:solidFill>
                  <a:srgbClr val="1C1917"/>
                </a:solidFill>
                <a:latin typeface="Calibri"/>
              </a:rPr>
              <a:t>Highlights?</a:t>
            </a:r>
          </a:p>
        </p:txBody>
      </p:sp>
      <p:sp>
        <p:nvSpPr>
          <p:cNvPr id="16" name="Process 15"/>
          <p:cNvSpPr/>
          <p:nvPr/>
        </p:nvSpPr>
        <p:spPr>
          <a:xfrm>
            <a:off x="292608" y="3310128"/>
            <a:ext cx="5669280" cy="713232"/>
          </a:xfrm>
          <a:prstGeom prst="flowChartProcess">
            <a:avLst/>
          </a:prstGeom>
          <a:solidFill>
            <a:srgbClr val="E7F0FB"/>
          </a:solidFill>
          <a:ln w="22225">
            <a:solidFill>
              <a:srgbClr val="1D4E8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Bef>
                <a:spcPts val="0"/>
              </a:spcBef>
              <a:spcAft>
                <a:spcPts val="0"/>
              </a:spcAft>
            </a:pPr>
            <a:r>
              <a:rPr sz="1200" b="1">
                <a:solidFill>
                  <a:srgbClr val="1D4E89"/>
                </a:solidFill>
                <a:latin typeface="Calibri"/>
              </a:rPr>
              <a:t>You</a:t>
            </a:r>
          </a:p>
          <a:p>
            <a:pPr algn="ctr">
              <a:spcBef>
                <a:spcPts val="0"/>
              </a:spcBef>
              <a:spcAft>
                <a:spcPts val="0"/>
              </a:spcAft>
            </a:pPr>
            <a:r>
              <a:rPr sz="1300" b="0">
                <a:solidFill>
                  <a:srgbClr val="1C1917"/>
                </a:solidFill>
                <a:latin typeface="Calibri"/>
              </a:rPr>
              <a:t>Preview shows yellow marks on the words that were rewritten</a:t>
            </a:r>
          </a:p>
        </p:txBody>
      </p:sp>
      <p:sp>
        <p:nvSpPr>
          <p:cNvPr id="17" name="Process 16"/>
          <p:cNvSpPr/>
          <p:nvPr/>
        </p:nvSpPr>
        <p:spPr>
          <a:xfrm>
            <a:off x="6236208" y="3310128"/>
            <a:ext cx="5650992" cy="713232"/>
          </a:xfrm>
          <a:prstGeom prst="flowChartProcess">
            <a:avLst/>
          </a:prstGeom>
          <a:solidFill>
            <a:srgbClr val="E7F0FB"/>
          </a:solidFill>
          <a:ln w="22225">
            <a:solidFill>
              <a:srgbClr val="1D4E8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Bef>
                <a:spcPts val="0"/>
              </a:spcBef>
              <a:spcAft>
                <a:spcPts val="0"/>
              </a:spcAft>
            </a:pPr>
            <a:r>
              <a:rPr sz="1200" b="1">
                <a:solidFill>
                  <a:srgbClr val="1D4E89"/>
                </a:solidFill>
                <a:latin typeface="Calibri"/>
              </a:rPr>
              <a:t>You</a:t>
            </a:r>
          </a:p>
          <a:p>
            <a:pPr algn="ctr">
              <a:spcBef>
                <a:spcPts val="0"/>
              </a:spcBef>
              <a:spcAft>
                <a:spcPts val="0"/>
              </a:spcAft>
            </a:pPr>
            <a:r>
              <a:rPr sz="1300" b="0">
                <a:solidFill>
                  <a:srgbClr val="1C1917"/>
                </a:solidFill>
                <a:latin typeface="Calibri"/>
              </a:rPr>
              <a:t>Preview shows the pages with no marks</a:t>
            </a:r>
          </a:p>
        </p:txBody>
      </p:sp>
      <p:cxnSp>
        <p:nvCxnSpPr>
          <p:cNvPr id="18" name="Connector 17"/>
          <p:cNvCxnSpPr/>
          <p:nvPr/>
        </p:nvCxnSpPr>
        <p:spPr>
          <a:xfrm flipH="1">
            <a:off x="4374489" y="3154679"/>
            <a:ext cx="1221639" cy="155449"/>
          </a:xfrm>
          <a:prstGeom prst="line">
            <a:avLst/>
          </a:prstGeom>
          <a:ln w="22225">
            <a:solidFill>
              <a:srgbClr val="3F4A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601968" y="3154679"/>
            <a:ext cx="1216517" cy="155449"/>
          </a:xfrm>
          <a:prstGeom prst="line">
            <a:avLst/>
          </a:prstGeom>
          <a:ln w="22225">
            <a:solidFill>
              <a:srgbClr val="3F4A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29768" y="3072384"/>
            <a:ext cx="457200" cy="219456"/>
          </a:xfrm>
          <a:prstGeom prst="rect">
            <a:avLst/>
          </a:prstGeom>
          <a:noFill/>
        </p:spPr>
        <p:txBody>
          <a:bodyPr wrap="none" lIns="18288" tIns="0" bIns="0">
            <a:spAutoFit/>
          </a:bodyPr>
          <a:lstStyle/>
          <a:p>
            <a:pPr algn="ctr">
              <a:spcBef>
                <a:spcPts val="0"/>
              </a:spcBef>
              <a:spcAft>
                <a:spcPts val="0"/>
              </a:spcAft>
            </a:pPr>
            <a:r>
              <a:rPr sz="1200" b="1">
                <a:solidFill>
                  <a:srgbClr val="145C38"/>
                </a:solidFill>
                <a:latin typeface="Calibri"/>
              </a:rPr>
              <a:t>Yes</a:t>
            </a:r>
          </a:p>
        </p:txBody>
      </p:sp>
      <p:sp>
        <p:nvSpPr>
          <p:cNvPr id="21" name="TextBox 20"/>
          <p:cNvSpPr txBox="1"/>
          <p:nvPr/>
        </p:nvSpPr>
        <p:spPr>
          <a:xfrm>
            <a:off x="11338560" y="3072384"/>
            <a:ext cx="411480" cy="219456"/>
          </a:xfrm>
          <a:prstGeom prst="rect">
            <a:avLst/>
          </a:prstGeom>
          <a:noFill/>
        </p:spPr>
        <p:txBody>
          <a:bodyPr wrap="none" lIns="18288" tIns="0" bIns="0">
            <a:spAutoFit/>
          </a:bodyPr>
          <a:lstStyle/>
          <a:p>
            <a:pPr algn="ctr">
              <a:spcBef>
                <a:spcPts val="0"/>
              </a:spcBef>
              <a:spcAft>
                <a:spcPts val="0"/>
              </a:spcAft>
            </a:pPr>
            <a:r>
              <a:rPr sz="1200" b="1">
                <a:solidFill>
                  <a:srgbClr val="9A3412"/>
                </a:solidFill>
                <a:latin typeface="Calibri"/>
              </a:rPr>
              <a:t>No</a:t>
            </a:r>
          </a:p>
        </p:txBody>
      </p:sp>
      <p:cxnSp>
        <p:nvCxnSpPr>
          <p:cNvPr id="22" name="Connector 21"/>
          <p:cNvCxnSpPr/>
          <p:nvPr/>
        </p:nvCxnSpPr>
        <p:spPr>
          <a:xfrm>
            <a:off x="6080759" y="1965959"/>
            <a:ext cx="18289" cy="128017"/>
          </a:xfrm>
          <a:prstGeom prst="line">
            <a:avLst/>
          </a:prstGeom>
          <a:ln w="22225">
            <a:solidFill>
              <a:srgbClr val="3F4A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Document 22"/>
          <p:cNvSpPr/>
          <p:nvPr/>
        </p:nvSpPr>
        <p:spPr>
          <a:xfrm>
            <a:off x="2194560" y="4206240"/>
            <a:ext cx="7772400" cy="621792"/>
          </a:xfrm>
          <a:prstGeom prst="flowChartDocument">
            <a:avLst/>
          </a:prstGeom>
          <a:solidFill>
            <a:srgbClr val="E5F6F4"/>
          </a:solidFill>
          <a:ln w="22225">
            <a:solidFill>
              <a:srgbClr val="0F6E6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Bef>
                <a:spcPts val="0"/>
              </a:spcBef>
              <a:spcAft>
                <a:spcPts val="0"/>
              </a:spcAft>
            </a:pPr>
            <a:r>
              <a:rPr sz="1200" b="1">
                <a:solidFill>
                  <a:srgbClr val="0F6E6B"/>
                </a:solidFill>
                <a:latin typeface="Calibri"/>
              </a:rPr>
              <a:t>You</a:t>
            </a:r>
          </a:p>
          <a:p>
            <a:pPr algn="ctr">
              <a:spcBef>
                <a:spcPts val="0"/>
              </a:spcBef>
              <a:spcAft>
                <a:spcPts val="0"/>
              </a:spcAft>
            </a:pPr>
            <a:r>
              <a:rPr sz="1400" b="0">
                <a:solidFill>
                  <a:srgbClr val="1C1917"/>
                </a:solidFill>
                <a:latin typeface="Calibri"/>
              </a:rPr>
              <a:t>Download the PDF. The yellow marks are never in that file.</a:t>
            </a:r>
          </a:p>
        </p:txBody>
      </p:sp>
      <p:cxnSp>
        <p:nvCxnSpPr>
          <p:cNvPr id="24" name="Connector 23"/>
          <p:cNvCxnSpPr/>
          <p:nvPr/>
        </p:nvCxnSpPr>
        <p:spPr>
          <a:xfrm>
            <a:off x="3127248" y="4032504"/>
            <a:ext cx="0" cy="164592"/>
          </a:xfrm>
          <a:prstGeom prst="line">
            <a:avLst/>
          </a:prstGeom>
          <a:ln w="22225">
            <a:solidFill>
              <a:srgbClr val="3F4A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9061704" y="4032504"/>
            <a:ext cx="0" cy="164592"/>
          </a:xfrm>
          <a:prstGeom prst="line">
            <a:avLst/>
          </a:prstGeom>
          <a:ln w="22225">
            <a:solidFill>
              <a:srgbClr val="3F4A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Process 25"/>
          <p:cNvSpPr/>
          <p:nvPr/>
        </p:nvSpPr>
        <p:spPr>
          <a:xfrm>
            <a:off x="2194560" y="4983480"/>
            <a:ext cx="7772400" cy="566928"/>
          </a:xfrm>
          <a:prstGeom prst="flowChartProcess">
            <a:avLst/>
          </a:prstGeom>
          <a:solidFill>
            <a:srgbClr val="F4ECFF"/>
          </a:solidFill>
          <a:ln w="22225">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Bef>
                <a:spcPts val="0"/>
              </a:spcBef>
              <a:spcAft>
                <a:spcPts val="0"/>
              </a:spcAft>
            </a:pPr>
            <a:r>
              <a:rPr sz="1200" b="1">
                <a:solidFill>
                  <a:srgbClr val="6D28D9"/>
                </a:solidFill>
                <a:latin typeface="Calibri"/>
              </a:rPr>
              <a:t>By hand</a:t>
            </a:r>
          </a:p>
          <a:p>
            <a:pPr algn="ctr">
              <a:spcBef>
                <a:spcPts val="0"/>
              </a:spcBef>
              <a:spcAft>
                <a:spcPts val="0"/>
              </a:spcAft>
            </a:pPr>
            <a:r>
              <a:rPr sz="1400" b="0">
                <a:solidFill>
                  <a:srgbClr val="1C1917"/>
                </a:solidFill>
                <a:latin typeface="Calibri"/>
              </a:rPr>
              <a:t>Send the email. The draft is ready. The application does not send it.</a:t>
            </a:r>
          </a:p>
        </p:txBody>
      </p:sp>
      <p:cxnSp>
        <p:nvCxnSpPr>
          <p:cNvPr id="27" name="Connector 26"/>
          <p:cNvCxnSpPr/>
          <p:nvPr/>
        </p:nvCxnSpPr>
        <p:spPr>
          <a:xfrm>
            <a:off x="6080760" y="4837175"/>
            <a:ext cx="0" cy="137161"/>
          </a:xfrm>
          <a:prstGeom prst="line">
            <a:avLst/>
          </a:prstGeom>
          <a:ln w="22225">
            <a:solidFill>
              <a:srgbClr val="3F4A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Terminator 27"/>
          <p:cNvSpPr/>
          <p:nvPr/>
        </p:nvSpPr>
        <p:spPr>
          <a:xfrm>
            <a:off x="5074920" y="5650992"/>
            <a:ext cx="2011680" cy="438912"/>
          </a:xfrm>
          <a:prstGeom prst="flowChartTerminator">
            <a:avLst/>
          </a:prstGeom>
          <a:solidFill>
            <a:srgbClr val="1B7A4A"/>
          </a:solidFill>
          <a:ln w="22225">
            <a:solidFill>
              <a:srgbClr val="145C38"/>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Bef>
                <a:spcPts val="0"/>
              </a:spcBef>
              <a:spcAft>
                <a:spcPts val="0"/>
              </a:spcAft>
            </a:pPr>
            <a:r>
              <a:rPr sz="1600" b="1">
                <a:solidFill>
                  <a:srgbClr val="FFFFFF"/>
                </a:solidFill>
                <a:latin typeface="Calibri"/>
              </a:rPr>
              <a:t>End</a:t>
            </a:r>
          </a:p>
        </p:txBody>
      </p:sp>
      <p:cxnSp>
        <p:nvCxnSpPr>
          <p:cNvPr id="29" name="Connector 28"/>
          <p:cNvCxnSpPr/>
          <p:nvPr/>
        </p:nvCxnSpPr>
        <p:spPr>
          <a:xfrm>
            <a:off x="6080760" y="5559552"/>
            <a:ext cx="0" cy="82296"/>
          </a:xfrm>
          <a:prstGeom prst="line">
            <a:avLst/>
          </a:prstGeom>
          <a:ln w="22225">
            <a:solidFill>
              <a:srgbClr val="3F4A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320040" y="6199632"/>
            <a:ext cx="11521440" cy="502920"/>
          </a:xfrm>
          <a:prstGeom prst="roundRect">
            <a:avLst/>
          </a:prstGeom>
          <a:solidFill>
            <a:srgbClr val="FFFBF0"/>
          </a:solidFill>
          <a:ln w="22225">
            <a:solidFill>
              <a:srgbClr val="A1620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Bef>
                <a:spcPts val="0"/>
              </a:spcBef>
              <a:spcAft>
                <a:spcPts val="0"/>
              </a:spcAft>
            </a:pPr>
            <a:r>
              <a:rPr sz="1200" b="0">
                <a:solidFill>
                  <a:srgbClr val="1C1917"/>
                </a:solidFill>
                <a:latin typeface="Calibri"/>
              </a:rPr>
              <a:t>Still by hand: Testing Log, converting a non-PDF, other company names on the cover, and pages inside a 410(b) report.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the application works — start to finish</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